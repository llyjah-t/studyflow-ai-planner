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3" d="100"/>
          <a:sy n="43" d="100"/>
        </p:scale>
        <p:origin x="91" y="57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BBF5C2-8536-4C8D-A316-F41373F3B8B5}" type="datetimeFigureOut">
              <a:rPr lang="en-US" smtClean="0"/>
              <a:t>5/3/2026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97730B-D00A-4D99-8DFC-6A86A74D1E92}" type="slidenum">
              <a:rPr lang="en-US" smtClean="0"/>
              <a:t>‹#›</a:t>
            </a:fld>
            <a:endParaRPr lang="en-US"/>
          </a:p>
        </p:txBody>
      </p:sp>
    </p:spTree>
    <p:extLst>
      <p:ext uri="{BB962C8B-B14F-4D97-AF65-F5344CB8AC3E}">
        <p14:creationId xmlns:p14="http://schemas.microsoft.com/office/powerpoint/2010/main" val="3617063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my name is Llyjah Thompson, and today I’ll be presenting </a:t>
            </a:r>
            <a:r>
              <a:rPr lang="en-US" i="1" dirty="0"/>
              <a:t>The Evolving Battle for Digital Privacy</a:t>
            </a:r>
            <a:r>
              <a:rPr lang="en-US" dirty="0"/>
              <a:t>. This project explores how technology shapes, threatens, and redefines personal privacy — and what we can do to protect it.</a:t>
            </a:r>
          </a:p>
        </p:txBody>
      </p:sp>
      <p:sp>
        <p:nvSpPr>
          <p:cNvPr id="4" name="Slide Number Placeholder 3"/>
          <p:cNvSpPr>
            <a:spLocks noGrp="1"/>
          </p:cNvSpPr>
          <p:nvPr>
            <p:ph type="sldNum" sz="quarter" idx="5"/>
          </p:nvPr>
        </p:nvSpPr>
        <p:spPr/>
        <p:txBody>
          <a:bodyPr/>
          <a:lstStyle/>
          <a:p>
            <a:fld id="{0597730B-D00A-4D99-8DFC-6A86A74D1E92}" type="slidenum">
              <a:rPr lang="en-US" smtClean="0"/>
              <a:t>1</a:t>
            </a:fld>
            <a:endParaRPr lang="en-US"/>
          </a:p>
        </p:txBody>
      </p:sp>
    </p:spTree>
    <p:extLst>
      <p:ext uri="{BB962C8B-B14F-4D97-AF65-F5344CB8AC3E}">
        <p14:creationId xmlns:p14="http://schemas.microsoft.com/office/powerpoint/2010/main" val="31119633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means control over our personal information — deciding what’s collected, how it’s used, and who can access it. In computing, privacy isn’t just a right; it’s a technical framework that defines how data exists and moves through digital systems.</a:t>
            </a:r>
          </a:p>
        </p:txBody>
      </p:sp>
      <p:sp>
        <p:nvSpPr>
          <p:cNvPr id="4" name="Slide Number Placeholder 3"/>
          <p:cNvSpPr>
            <a:spLocks noGrp="1"/>
          </p:cNvSpPr>
          <p:nvPr>
            <p:ph type="sldNum" sz="quarter" idx="5"/>
          </p:nvPr>
        </p:nvSpPr>
        <p:spPr/>
        <p:txBody>
          <a:bodyPr/>
          <a:lstStyle/>
          <a:p>
            <a:fld id="{0597730B-D00A-4D99-8DFC-6A86A74D1E92}" type="slidenum">
              <a:rPr lang="en-US" smtClean="0"/>
              <a:t>2</a:t>
            </a:fld>
            <a:endParaRPr lang="en-US"/>
          </a:p>
        </p:txBody>
      </p:sp>
    </p:spTree>
    <p:extLst>
      <p:ext uri="{BB962C8B-B14F-4D97-AF65-F5344CB8AC3E}">
        <p14:creationId xmlns:p14="http://schemas.microsoft.com/office/powerpoint/2010/main" val="28119324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Why Privacy Matters</a:t>
            </a:r>
          </a:p>
          <a:p>
            <a:r>
              <a:rPr lang="en-US" dirty="0">
                <a:effectLst/>
              </a:rPr>
              <a:t>Every click, search, and message generates data. Companies collect massive amounts of it, AI models train on it, and breaches expose millions. As surveillance becomes normalized, privacy is no longer optional — it’s essential for digital freedom.</a:t>
            </a:r>
            <a:endParaRPr lang="en-US" dirty="0"/>
          </a:p>
          <a:p>
            <a:endParaRPr lang="en-US" dirty="0"/>
          </a:p>
        </p:txBody>
      </p:sp>
      <p:sp>
        <p:nvSpPr>
          <p:cNvPr id="4" name="Slide Number Placeholder 3"/>
          <p:cNvSpPr>
            <a:spLocks noGrp="1"/>
          </p:cNvSpPr>
          <p:nvPr>
            <p:ph type="sldNum" sz="quarter" idx="5"/>
          </p:nvPr>
        </p:nvSpPr>
        <p:spPr/>
        <p:txBody>
          <a:bodyPr/>
          <a:lstStyle/>
          <a:p>
            <a:fld id="{0597730B-D00A-4D99-8DFC-6A86A74D1E92}" type="slidenum">
              <a:rPr lang="en-US" smtClean="0"/>
              <a:t>3</a:t>
            </a:fld>
            <a:endParaRPr lang="en-US"/>
          </a:p>
        </p:txBody>
      </p:sp>
    </p:spTree>
    <p:extLst>
      <p:ext uri="{BB962C8B-B14F-4D97-AF65-F5344CB8AC3E}">
        <p14:creationId xmlns:p14="http://schemas.microsoft.com/office/powerpoint/2010/main" val="600917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rPr>
              <a:t>Privacy breaks down when systems fail. Weak encryption, excessive data collection, deceptive consent forms, and insecure APIs all create vulnerabilities. These aren’t abstract problems — they’re design flaws that directly affect user safety.</a:t>
            </a:r>
            <a:endParaRPr lang="en-US" dirty="0"/>
          </a:p>
          <a:p>
            <a:endParaRPr lang="en-US" dirty="0"/>
          </a:p>
        </p:txBody>
      </p:sp>
      <p:sp>
        <p:nvSpPr>
          <p:cNvPr id="4" name="Slide Number Placeholder 3"/>
          <p:cNvSpPr>
            <a:spLocks noGrp="1"/>
          </p:cNvSpPr>
          <p:nvPr>
            <p:ph type="sldNum" sz="quarter" idx="5"/>
          </p:nvPr>
        </p:nvSpPr>
        <p:spPr/>
        <p:txBody>
          <a:bodyPr/>
          <a:lstStyle/>
          <a:p>
            <a:fld id="{0597730B-D00A-4D99-8DFC-6A86A74D1E92}" type="slidenum">
              <a:rPr lang="en-US" smtClean="0"/>
              <a:t>4</a:t>
            </a:fld>
            <a:endParaRPr lang="en-US"/>
          </a:p>
        </p:txBody>
      </p:sp>
    </p:spTree>
    <p:extLst>
      <p:ext uri="{BB962C8B-B14F-4D97-AF65-F5344CB8AC3E}">
        <p14:creationId xmlns:p14="http://schemas.microsoft.com/office/powerpoint/2010/main" val="9655729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Case Study #1: Meta Pixel Healthcare Leak</a:t>
            </a:r>
          </a:p>
          <a:p>
            <a:r>
              <a:rPr lang="en-US" dirty="0">
                <a:effectLst/>
              </a:rPr>
              <a:t>In 2022, Meta’s tracking pixel was found on hospital websites, sending patient data to Facebook. A single script violated HIPAA principles and exposed millions of patients. This case shows how small pieces of code can cause massive privacy breaches.</a:t>
            </a:r>
            <a:endParaRPr lang="en-US" dirty="0"/>
          </a:p>
          <a:p>
            <a:endParaRPr lang="en-US" dirty="0"/>
          </a:p>
        </p:txBody>
      </p:sp>
      <p:sp>
        <p:nvSpPr>
          <p:cNvPr id="4" name="Slide Number Placeholder 3"/>
          <p:cNvSpPr>
            <a:spLocks noGrp="1"/>
          </p:cNvSpPr>
          <p:nvPr>
            <p:ph type="sldNum" sz="quarter" idx="5"/>
          </p:nvPr>
        </p:nvSpPr>
        <p:spPr/>
        <p:txBody>
          <a:bodyPr/>
          <a:lstStyle/>
          <a:p>
            <a:fld id="{0597730B-D00A-4D99-8DFC-6A86A74D1E92}" type="slidenum">
              <a:rPr lang="en-US" smtClean="0"/>
              <a:t>5</a:t>
            </a:fld>
            <a:endParaRPr lang="en-US"/>
          </a:p>
        </p:txBody>
      </p:sp>
    </p:spTree>
    <p:extLst>
      <p:ext uri="{BB962C8B-B14F-4D97-AF65-F5344CB8AC3E}">
        <p14:creationId xmlns:p14="http://schemas.microsoft.com/office/powerpoint/2010/main" val="29508602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Case Study #2: Ring Doorbell Police Partnerships</a:t>
            </a:r>
          </a:p>
          <a:p>
            <a:r>
              <a:rPr lang="en-US" dirty="0">
                <a:effectLst/>
              </a:rPr>
              <a:t>Ring partnered with over 2,000 police departments, allowing direct access to user footage. Many users didn’t realize their data was being shared. What began as home security turned into a nationwide surveillance network — a clear privacy concern.</a:t>
            </a:r>
            <a:endParaRPr lang="en-US" dirty="0"/>
          </a:p>
          <a:p>
            <a:endParaRPr lang="en-US" dirty="0"/>
          </a:p>
        </p:txBody>
      </p:sp>
      <p:sp>
        <p:nvSpPr>
          <p:cNvPr id="4" name="Slide Number Placeholder 3"/>
          <p:cNvSpPr>
            <a:spLocks noGrp="1"/>
          </p:cNvSpPr>
          <p:nvPr>
            <p:ph type="sldNum" sz="quarter" idx="5"/>
          </p:nvPr>
        </p:nvSpPr>
        <p:spPr/>
        <p:txBody>
          <a:bodyPr/>
          <a:lstStyle/>
          <a:p>
            <a:fld id="{0597730B-D00A-4D99-8DFC-6A86A74D1E92}" type="slidenum">
              <a:rPr lang="en-US" smtClean="0"/>
              <a:t>6</a:t>
            </a:fld>
            <a:endParaRPr lang="en-US"/>
          </a:p>
        </p:txBody>
      </p:sp>
    </p:spTree>
    <p:extLst>
      <p:ext uri="{BB962C8B-B14F-4D97-AF65-F5344CB8AC3E}">
        <p14:creationId xmlns:p14="http://schemas.microsoft.com/office/powerpoint/2010/main" val="38170008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Real‑World Computing Problems</a:t>
            </a:r>
          </a:p>
          <a:p>
            <a:r>
              <a:rPr lang="en-US" dirty="0">
                <a:effectLst/>
              </a:rPr>
              <a:t>Privacy failures happen because systems are built without protection in mind. Unencrypted transfers, exposed APIs, indefinite data storage, and AI trained on private data all expand risk. These technical oversights have human consequences.</a:t>
            </a:r>
            <a:endParaRPr lang="en-US" dirty="0"/>
          </a:p>
          <a:p>
            <a:endParaRPr lang="en-US" dirty="0"/>
          </a:p>
        </p:txBody>
      </p:sp>
      <p:sp>
        <p:nvSpPr>
          <p:cNvPr id="4" name="Slide Number Placeholder 3"/>
          <p:cNvSpPr>
            <a:spLocks noGrp="1"/>
          </p:cNvSpPr>
          <p:nvPr>
            <p:ph type="sldNum" sz="quarter" idx="5"/>
          </p:nvPr>
        </p:nvSpPr>
        <p:spPr/>
        <p:txBody>
          <a:bodyPr/>
          <a:lstStyle/>
          <a:p>
            <a:fld id="{0597730B-D00A-4D99-8DFC-6A86A74D1E92}" type="slidenum">
              <a:rPr lang="en-US" smtClean="0"/>
              <a:t>7</a:t>
            </a:fld>
            <a:endParaRPr lang="en-US"/>
          </a:p>
        </p:txBody>
      </p:sp>
    </p:spTree>
    <p:extLst>
      <p:ext uri="{BB962C8B-B14F-4D97-AF65-F5344CB8AC3E}">
        <p14:creationId xmlns:p14="http://schemas.microsoft.com/office/powerpoint/2010/main" val="29195013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is also an ethical issue. Most users don’t understand what they agree to, while companies profit from over‑collection. AI can infer sensitive traits, and surveillance disproportionately affects marginalized communities. Ethics must guide technology design.</a:t>
            </a:r>
          </a:p>
        </p:txBody>
      </p:sp>
      <p:sp>
        <p:nvSpPr>
          <p:cNvPr id="4" name="Slide Number Placeholder 3"/>
          <p:cNvSpPr>
            <a:spLocks noGrp="1"/>
          </p:cNvSpPr>
          <p:nvPr>
            <p:ph type="sldNum" sz="quarter" idx="5"/>
          </p:nvPr>
        </p:nvSpPr>
        <p:spPr/>
        <p:txBody>
          <a:bodyPr/>
          <a:lstStyle/>
          <a:p>
            <a:fld id="{0597730B-D00A-4D99-8DFC-6A86A74D1E92}" type="slidenum">
              <a:rPr lang="en-US" smtClean="0"/>
              <a:t>8</a:t>
            </a:fld>
            <a:endParaRPr lang="en-US"/>
          </a:p>
        </p:txBody>
      </p:sp>
    </p:spTree>
    <p:extLst>
      <p:ext uri="{BB962C8B-B14F-4D97-AF65-F5344CB8AC3E}">
        <p14:creationId xmlns:p14="http://schemas.microsoft.com/office/powerpoint/2010/main" val="31807390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fix privacy at the system level. End‑to‑end encryption, zero‑trust architecture, differential privacy, secure API design, and data minimization all reduce exposure. Regular audits ensure these protections actually work.</a:t>
            </a:r>
          </a:p>
        </p:txBody>
      </p:sp>
      <p:sp>
        <p:nvSpPr>
          <p:cNvPr id="4" name="Slide Number Placeholder 3"/>
          <p:cNvSpPr>
            <a:spLocks noGrp="1"/>
          </p:cNvSpPr>
          <p:nvPr>
            <p:ph type="sldNum" sz="quarter" idx="5"/>
          </p:nvPr>
        </p:nvSpPr>
        <p:spPr/>
        <p:txBody>
          <a:bodyPr/>
          <a:lstStyle/>
          <a:p>
            <a:fld id="{0597730B-D00A-4D99-8DFC-6A86A74D1E92}" type="slidenum">
              <a:rPr lang="en-US" smtClean="0"/>
              <a:t>9</a:t>
            </a:fld>
            <a:endParaRPr lang="en-US"/>
          </a:p>
        </p:txBody>
      </p:sp>
    </p:spTree>
    <p:extLst>
      <p:ext uri="{BB962C8B-B14F-4D97-AF65-F5344CB8AC3E}">
        <p14:creationId xmlns:p14="http://schemas.microsoft.com/office/powerpoint/2010/main" val="6115531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Laws matter too. Regulations like GDPR and CCPA enforce transparency, limit data retention, and require consent. Independent audits and clear reporting keep organizations accountable. Policy complements technology — both are needed.</a:t>
            </a:r>
          </a:p>
        </p:txBody>
      </p:sp>
      <p:sp>
        <p:nvSpPr>
          <p:cNvPr id="4" name="Slide Number Placeholder 3"/>
          <p:cNvSpPr>
            <a:spLocks noGrp="1"/>
          </p:cNvSpPr>
          <p:nvPr>
            <p:ph type="sldNum" sz="quarter" idx="5"/>
          </p:nvPr>
        </p:nvSpPr>
        <p:spPr/>
        <p:txBody>
          <a:bodyPr/>
          <a:lstStyle/>
          <a:p>
            <a:fld id="{0597730B-D00A-4D99-8DFC-6A86A74D1E92}" type="slidenum">
              <a:rPr lang="en-US" smtClean="0"/>
              <a:t>10</a:t>
            </a:fld>
            <a:endParaRPr lang="en-US"/>
          </a:p>
        </p:txBody>
      </p:sp>
    </p:spTree>
    <p:extLst>
      <p:ext uri="{BB962C8B-B14F-4D97-AF65-F5344CB8AC3E}">
        <p14:creationId xmlns:p14="http://schemas.microsoft.com/office/powerpoint/2010/main" val="12107434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failures aren’t accidents — they’re design choices. Companies collect too much, users can’t defend themselves, and retrofitted fixes don’t last. Privacy must be built in from the start — “privacy by design” is the only sustainable model.</a:t>
            </a:r>
          </a:p>
        </p:txBody>
      </p:sp>
      <p:sp>
        <p:nvSpPr>
          <p:cNvPr id="4" name="Slide Number Placeholder 3"/>
          <p:cNvSpPr>
            <a:spLocks noGrp="1"/>
          </p:cNvSpPr>
          <p:nvPr>
            <p:ph type="sldNum" sz="quarter" idx="5"/>
          </p:nvPr>
        </p:nvSpPr>
        <p:spPr/>
        <p:txBody>
          <a:bodyPr/>
          <a:lstStyle/>
          <a:p>
            <a:fld id="{0597730B-D00A-4D99-8DFC-6A86A74D1E92}" type="slidenum">
              <a:rPr lang="en-US" smtClean="0"/>
              <a:t>11</a:t>
            </a:fld>
            <a:endParaRPr lang="en-US"/>
          </a:p>
        </p:txBody>
      </p:sp>
    </p:spTree>
    <p:extLst>
      <p:ext uri="{BB962C8B-B14F-4D97-AF65-F5344CB8AC3E}">
        <p14:creationId xmlns:p14="http://schemas.microsoft.com/office/powerpoint/2010/main" val="12503296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AI will demand stricter controls, biometrics will spark new debates, and governments will expand surveillance. But privacy‑preserving technologies will also become standard as users demand more control. The future depends on how we balance innovation with protection.</a:t>
            </a:r>
          </a:p>
        </p:txBody>
      </p:sp>
      <p:sp>
        <p:nvSpPr>
          <p:cNvPr id="4" name="Slide Number Placeholder 3"/>
          <p:cNvSpPr>
            <a:spLocks noGrp="1"/>
          </p:cNvSpPr>
          <p:nvPr>
            <p:ph type="sldNum" sz="quarter" idx="5"/>
          </p:nvPr>
        </p:nvSpPr>
        <p:spPr/>
        <p:txBody>
          <a:bodyPr/>
          <a:lstStyle/>
          <a:p>
            <a:fld id="{0597730B-D00A-4D99-8DFC-6A86A74D1E92}" type="slidenum">
              <a:rPr lang="en-US" smtClean="0"/>
              <a:t>12</a:t>
            </a:fld>
            <a:endParaRPr lang="en-US"/>
          </a:p>
        </p:txBody>
      </p:sp>
    </p:spTree>
    <p:extLst>
      <p:ext uri="{BB962C8B-B14F-4D97-AF65-F5344CB8AC3E}">
        <p14:creationId xmlns:p14="http://schemas.microsoft.com/office/powerpoint/2010/main" val="35397117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is technical, ethical, and political. Real‑world cases show how fragile it is, and computing decisions shape user safety. Protecting privacy means protecting human rights — it’s about autonomy and dignity in a digital world.</a:t>
            </a:r>
          </a:p>
        </p:txBody>
      </p:sp>
      <p:sp>
        <p:nvSpPr>
          <p:cNvPr id="4" name="Slide Number Placeholder 3"/>
          <p:cNvSpPr>
            <a:spLocks noGrp="1"/>
          </p:cNvSpPr>
          <p:nvPr>
            <p:ph type="sldNum" sz="quarter" idx="5"/>
          </p:nvPr>
        </p:nvSpPr>
        <p:spPr/>
        <p:txBody>
          <a:bodyPr/>
          <a:lstStyle/>
          <a:p>
            <a:fld id="{0597730B-D00A-4D99-8DFC-6A86A74D1E92}" type="slidenum">
              <a:rPr lang="en-US" smtClean="0"/>
              <a:t>13</a:t>
            </a:fld>
            <a:endParaRPr lang="en-US"/>
          </a:p>
        </p:txBody>
      </p:sp>
    </p:spTree>
    <p:extLst>
      <p:ext uri="{BB962C8B-B14F-4D97-AF65-F5344CB8AC3E}">
        <p14:creationId xmlns:p14="http://schemas.microsoft.com/office/powerpoint/2010/main" val="12134843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a:t>
            </a:r>
          </a:p>
        </p:txBody>
      </p:sp>
      <p:sp>
        <p:nvSpPr>
          <p:cNvPr id="4" name="Slide Number Placeholder 3"/>
          <p:cNvSpPr>
            <a:spLocks noGrp="1"/>
          </p:cNvSpPr>
          <p:nvPr>
            <p:ph type="sldNum" sz="quarter" idx="5"/>
          </p:nvPr>
        </p:nvSpPr>
        <p:spPr/>
        <p:txBody>
          <a:bodyPr/>
          <a:lstStyle/>
          <a:p>
            <a:fld id="{0597730B-D00A-4D99-8DFC-6A86A74D1E92}" type="slidenum">
              <a:rPr lang="en-US" smtClean="0"/>
              <a:t>15</a:t>
            </a:fld>
            <a:endParaRPr lang="en-US"/>
          </a:p>
        </p:txBody>
      </p:sp>
    </p:spTree>
    <p:extLst>
      <p:ext uri="{BB962C8B-B14F-4D97-AF65-F5344CB8AC3E}">
        <p14:creationId xmlns:p14="http://schemas.microsoft.com/office/powerpoint/2010/main" val="22472265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alpha val="0"/>
          </a:srgb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a:ln w="13547">
            <a:solidFill>
              <a:srgbClr val="B46F00"/>
            </a:solidFill>
          </a:ln>
        </p:spPr>
      </p:sp>
      <p:pic>
        <p:nvPicPr>
          <p:cNvPr id="3" name="Picture 3"/>
          <p:cNvPicPr>
            <a:picLocks noChangeAspect="1"/>
          </p:cNvPicPr>
          <p:nvPr/>
        </p:nvPicPr>
        <p:blipFill>
          <a:blip r:embed="rId3"/>
          <a:srcRect t="74" b="74"/>
          <a:stretch>
            <a:fillRect/>
          </a:stretch>
        </p:blipFill>
        <p:spPr>
          <a:xfrm>
            <a:off x="0" y="0"/>
            <a:ext cx="16256000" cy="9144000"/>
          </a:xfrm>
          <a:prstGeom prst="rect">
            <a:avLst/>
          </a:prstGeom>
        </p:spPr>
      </p:pic>
      <p:pic>
        <p:nvPicPr>
          <p:cNvPr id="4" name="Picture 4"/>
          <p:cNvPicPr>
            <a:picLocks noChangeAspect="1"/>
          </p:cNvPicPr>
          <p:nvPr/>
        </p:nvPicPr>
        <p:blipFill>
          <a:blip r:embed="rId4"/>
          <a:srcRect t="609" b="609"/>
          <a:stretch>
            <a:fillRect/>
          </a:stretch>
        </p:blipFill>
        <p:spPr>
          <a:xfrm>
            <a:off x="11053840" y="16606"/>
            <a:ext cx="5185305" cy="9110816"/>
          </a:xfrm>
          <a:prstGeom prst="rect">
            <a:avLst/>
          </a:prstGeom>
        </p:spPr>
      </p:pic>
      <p:sp>
        <p:nvSpPr>
          <p:cNvPr id="5" name="TextBox 5"/>
          <p:cNvSpPr txBox="1"/>
          <p:nvPr/>
        </p:nvSpPr>
        <p:spPr>
          <a:xfrm>
            <a:off x="882112" y="2955951"/>
            <a:ext cx="9289630" cy="1814534"/>
          </a:xfrm>
          <a:prstGeom prst="rect">
            <a:avLst/>
          </a:prstGeom>
          <a:solidFill>
            <a:srgbClr val="000000">
              <a:alpha val="0"/>
            </a:srgbClr>
          </a:solidFill>
        </p:spPr>
        <p:txBody>
          <a:bodyPr lIns="0" tIns="0" rIns="0" bIns="0" rtlCol="0" anchor="ctr"/>
          <a:lstStyle/>
          <a:p>
            <a:pPr indent="0" algn="l">
              <a:lnSpc>
                <a:spcPct val="160000"/>
              </a:lnSpc>
              <a:defRPr/>
            </a:pPr>
            <a:r>
              <a:rPr lang="en-US" sz="5953" b="1">
                <a:solidFill>
                  <a:srgbClr val="FF9D09"/>
                </a:solidFill>
                <a:latin typeface="Belanosima"/>
              </a:rPr>
              <a:t>The Evolving Battle for Digital Privacy</a:t>
            </a:r>
            <a:endParaRPr lang="en-US" sz="1100"/>
          </a:p>
        </p:txBody>
      </p:sp>
      <p:sp>
        <p:nvSpPr>
          <p:cNvPr id="6" name="TextBox 6"/>
          <p:cNvSpPr txBox="1"/>
          <p:nvPr/>
        </p:nvSpPr>
        <p:spPr>
          <a:xfrm>
            <a:off x="882112" y="5053907"/>
            <a:ext cx="9289630" cy="378051"/>
          </a:xfrm>
          <a:prstGeom prst="rect">
            <a:avLst/>
          </a:prstGeom>
          <a:solidFill>
            <a:srgbClr val="000000">
              <a:alpha val="0"/>
            </a:srgbClr>
          </a:solidFill>
        </p:spPr>
        <p:txBody>
          <a:bodyPr lIns="0" tIns="0" rIns="0" bIns="0" rtlCol="0" anchor="ctr"/>
          <a:lstStyle/>
          <a:p>
            <a:pPr indent="0" algn="l">
              <a:lnSpc>
                <a:spcPct val="150000"/>
              </a:lnSpc>
              <a:defRPr/>
            </a:pPr>
            <a:r>
              <a:rPr lang="en-US" sz="1984" b="0">
                <a:solidFill>
                  <a:srgbClr val="D9D9D9"/>
                </a:solidFill>
                <a:latin typeface="Poppins"/>
              </a:rPr>
              <a:t>How Technology Shapes, Threatens &amp; Redefines Personal Privacy</a:t>
            </a:r>
            <a:endParaRPr lang="en-US" sz="1100"/>
          </a:p>
        </p:txBody>
      </p:sp>
      <p:sp>
        <p:nvSpPr>
          <p:cNvPr id="7" name="TextBox 7"/>
          <p:cNvSpPr txBox="1"/>
          <p:nvPr/>
        </p:nvSpPr>
        <p:spPr>
          <a:xfrm>
            <a:off x="882112" y="5715365"/>
            <a:ext cx="9289630" cy="472434"/>
          </a:xfrm>
          <a:prstGeom prst="rect">
            <a:avLst/>
          </a:prstGeom>
          <a:solidFill>
            <a:srgbClr val="000000">
              <a:alpha val="0"/>
            </a:srgbClr>
          </a:solidFill>
        </p:spPr>
        <p:txBody>
          <a:bodyPr lIns="0" tIns="0" rIns="0" bIns="0" rtlCol="0" anchor="ctr"/>
          <a:lstStyle/>
          <a:p>
            <a:pPr indent="0" algn="l">
              <a:lnSpc>
                <a:spcPct val="150000"/>
              </a:lnSpc>
              <a:defRPr/>
            </a:pPr>
            <a:r>
              <a:rPr lang="en-US" sz="2480" b="0">
                <a:solidFill>
                  <a:srgbClr val="D9D9D9"/>
                </a:solidFill>
                <a:latin typeface="Poppins"/>
              </a:rPr>
              <a:t>By: Llyjah Thompson</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a:ln w="13547">
            <a:solidFill>
              <a:srgbClr val="B46F00"/>
            </a:solidFill>
          </a:ln>
        </p:spPr>
      </p:sp>
      <p:pic>
        <p:nvPicPr>
          <p:cNvPr id="3" name="Picture 3"/>
          <p:cNvPicPr>
            <a:picLocks noChangeAspect="1"/>
          </p:cNvPicPr>
          <p:nvPr/>
        </p:nvPicPr>
        <p:blipFill>
          <a:blip r:embed="rId3"/>
          <a:srcRect t="74" b="74"/>
          <a:stretch>
            <a:fillRect/>
          </a:stretch>
        </p:blipFill>
        <p:spPr>
          <a:xfrm>
            <a:off x="0" y="0"/>
            <a:ext cx="16256000" cy="9144000"/>
          </a:xfrm>
          <a:prstGeom prst="rect">
            <a:avLst/>
          </a:prstGeom>
        </p:spPr>
      </p:pic>
      <p:sp>
        <p:nvSpPr>
          <p:cNvPr id="4" name="TextBox 4"/>
          <p:cNvSpPr txBox="1"/>
          <p:nvPr/>
        </p:nvSpPr>
        <p:spPr>
          <a:xfrm>
            <a:off x="882112" y="2004079"/>
            <a:ext cx="14491783" cy="604674"/>
          </a:xfrm>
          <a:prstGeom prst="rect">
            <a:avLst/>
          </a:prstGeom>
          <a:solidFill>
            <a:srgbClr val="000000">
              <a:alpha val="0"/>
            </a:srgbClr>
          </a:solidFill>
        </p:spPr>
        <p:txBody>
          <a:bodyPr lIns="0" tIns="0" rIns="0" bIns="0" rtlCol="0" anchor="ctr"/>
          <a:lstStyle/>
          <a:p>
            <a:pPr indent="0" algn="l">
              <a:lnSpc>
                <a:spcPct val="120000"/>
              </a:lnSpc>
              <a:defRPr/>
            </a:pPr>
            <a:r>
              <a:rPr lang="en-US" sz="3968" b="1">
                <a:solidFill>
                  <a:srgbClr val="FF9D09"/>
                </a:solidFill>
                <a:latin typeface="Belanosima"/>
              </a:rPr>
              <a:t>What Is Privacy?</a:t>
            </a:r>
            <a:endParaRPr lang="en-US" sz="1100"/>
          </a:p>
        </p:txBody>
      </p:sp>
      <p:sp>
        <p:nvSpPr>
          <p:cNvPr id="5" name="TextBox 5"/>
          <p:cNvSpPr txBox="1"/>
          <p:nvPr/>
        </p:nvSpPr>
        <p:spPr>
          <a:xfrm>
            <a:off x="882112" y="2892155"/>
            <a:ext cx="14491783" cy="453505"/>
          </a:xfrm>
          <a:prstGeom prst="rect">
            <a:avLst/>
          </a:prstGeom>
          <a:solidFill>
            <a:srgbClr val="000000">
              <a:alpha val="0"/>
            </a:srgbClr>
          </a:solidFill>
        </p:spPr>
        <p:txBody>
          <a:bodyPr lIns="0" tIns="0" rIns="0" bIns="0" rtlCol="0" anchor="ctr"/>
          <a:lstStyle/>
          <a:p>
            <a:pPr indent="0" algn="l">
              <a:lnSpc>
                <a:spcPct val="120000"/>
              </a:lnSpc>
              <a:defRPr/>
            </a:pPr>
            <a:r>
              <a:rPr lang="en-US" sz="2976" b="1">
                <a:solidFill>
                  <a:srgbClr val="FF9D09"/>
                </a:solidFill>
                <a:latin typeface="Belanosima"/>
              </a:rPr>
              <a:t>A Modern Computing Definition</a:t>
            </a:r>
            <a:endParaRPr lang="en-US" sz="1100"/>
          </a:p>
        </p:txBody>
      </p:sp>
      <p:sp>
        <p:nvSpPr>
          <p:cNvPr id="6" name="AutoShape 6"/>
          <p:cNvSpPr/>
          <p:nvPr/>
        </p:nvSpPr>
        <p:spPr>
          <a:xfrm>
            <a:off x="882112" y="3629077"/>
            <a:ext cx="14491783" cy="3510845"/>
          </a:xfrm>
          <a:prstGeom prst="rect">
            <a:avLst/>
          </a:prstGeom>
          <a:solidFill>
            <a:srgbClr val="000000">
              <a:alpha val="0"/>
            </a:srgbClr>
          </a:solidFill>
        </p:spPr>
      </p:sp>
      <p:sp>
        <p:nvSpPr>
          <p:cNvPr id="7" name="AutoShape 7"/>
          <p:cNvSpPr/>
          <p:nvPr/>
        </p:nvSpPr>
        <p:spPr>
          <a:xfrm>
            <a:off x="882112" y="3629077"/>
            <a:ext cx="3433798" cy="3510845"/>
          </a:xfrm>
          <a:prstGeom prst="rect">
            <a:avLst/>
          </a:prstGeom>
          <a:solidFill>
            <a:srgbClr val="33291B">
              <a:alpha val="71765"/>
            </a:srgbClr>
          </a:solidFill>
          <a:ln w="13547">
            <a:solidFill>
              <a:srgbClr val="9F6700">
                <a:alpha val="78824"/>
              </a:srgbClr>
            </a:solidFill>
          </a:ln>
        </p:spPr>
      </p:sp>
      <p:sp>
        <p:nvSpPr>
          <p:cNvPr id="8" name="TextBox 8"/>
          <p:cNvSpPr txBox="1"/>
          <p:nvPr/>
        </p:nvSpPr>
        <p:spPr>
          <a:xfrm>
            <a:off x="1150736" y="3897704"/>
            <a:ext cx="2896536" cy="907010"/>
          </a:xfrm>
          <a:prstGeom prst="rect">
            <a:avLst/>
          </a:prstGeom>
          <a:solidFill>
            <a:srgbClr val="000000">
              <a:alpha val="0"/>
            </a:srgbClr>
          </a:solidFill>
        </p:spPr>
        <p:txBody>
          <a:bodyPr lIns="0" tIns="0" rIns="0" bIns="0" rtlCol="0" anchor="ctr"/>
          <a:lstStyle/>
          <a:p>
            <a:pPr indent="0" algn="l">
              <a:lnSpc>
                <a:spcPct val="120000"/>
              </a:lnSpc>
              <a:defRPr/>
            </a:pPr>
            <a:r>
              <a:rPr lang="en-US" sz="2976" b="1">
                <a:solidFill>
                  <a:srgbClr val="FF9D09"/>
                </a:solidFill>
                <a:latin typeface="Belanosima"/>
              </a:rPr>
              <a:t>Control over personal data</a:t>
            </a:r>
            <a:endParaRPr lang="en-US" sz="1100"/>
          </a:p>
        </p:txBody>
      </p:sp>
      <p:sp>
        <p:nvSpPr>
          <p:cNvPr id="9" name="TextBox 9"/>
          <p:cNvSpPr txBox="1"/>
          <p:nvPr/>
        </p:nvSpPr>
        <p:spPr>
          <a:xfrm>
            <a:off x="1150736" y="4981026"/>
            <a:ext cx="2896536" cy="1890253"/>
          </a:xfrm>
          <a:prstGeom prst="rect">
            <a:avLst/>
          </a:prstGeom>
          <a:solidFill>
            <a:srgbClr val="000000">
              <a:alpha val="0"/>
            </a:srgbClr>
          </a:solidFill>
        </p:spPr>
        <p:txBody>
          <a:bodyPr lIns="0" tIns="0" rIns="0" bIns="0" rtlCol="0" anchor="ctr"/>
          <a:lstStyle/>
          <a:p>
            <a:pPr indent="0" algn="l">
              <a:lnSpc>
                <a:spcPct val="150000"/>
              </a:lnSpc>
              <a:defRPr/>
            </a:pPr>
            <a:r>
              <a:rPr lang="en-US" sz="1984" b="0">
                <a:solidFill>
                  <a:srgbClr val="D9D9D9"/>
                </a:solidFill>
                <a:latin typeface="Poppins"/>
              </a:rPr>
              <a:t>The fundamental right to govern your own information and determine how it exists in digital systems</a:t>
            </a:r>
            <a:endParaRPr lang="en-US" sz="1100"/>
          </a:p>
        </p:txBody>
      </p:sp>
      <p:sp>
        <p:nvSpPr>
          <p:cNvPr id="10" name="AutoShape 10"/>
          <p:cNvSpPr/>
          <p:nvPr/>
        </p:nvSpPr>
        <p:spPr>
          <a:xfrm>
            <a:off x="4567940" y="3629077"/>
            <a:ext cx="3434047" cy="3510845"/>
          </a:xfrm>
          <a:prstGeom prst="rect">
            <a:avLst/>
          </a:prstGeom>
          <a:solidFill>
            <a:srgbClr val="33291B">
              <a:alpha val="71765"/>
            </a:srgbClr>
          </a:solidFill>
          <a:ln w="13547">
            <a:solidFill>
              <a:srgbClr val="9F6700">
                <a:alpha val="78824"/>
              </a:srgbClr>
            </a:solidFill>
          </a:ln>
        </p:spPr>
      </p:sp>
      <p:sp>
        <p:nvSpPr>
          <p:cNvPr id="11" name="TextBox 11"/>
          <p:cNvSpPr txBox="1"/>
          <p:nvPr/>
        </p:nvSpPr>
        <p:spPr>
          <a:xfrm>
            <a:off x="4836565" y="3897704"/>
            <a:ext cx="2896801" cy="907010"/>
          </a:xfrm>
          <a:prstGeom prst="rect">
            <a:avLst/>
          </a:prstGeom>
          <a:solidFill>
            <a:srgbClr val="000000">
              <a:alpha val="0"/>
            </a:srgbClr>
          </a:solidFill>
        </p:spPr>
        <p:txBody>
          <a:bodyPr lIns="0" tIns="0" rIns="0" bIns="0" rtlCol="0" anchor="ctr"/>
          <a:lstStyle/>
          <a:p>
            <a:pPr indent="0" algn="l">
              <a:lnSpc>
                <a:spcPct val="120000"/>
              </a:lnSpc>
              <a:defRPr/>
            </a:pPr>
            <a:r>
              <a:rPr lang="en-US" sz="2976" b="1">
                <a:solidFill>
                  <a:srgbClr val="FF9D09"/>
                </a:solidFill>
                <a:latin typeface="Belanosima"/>
              </a:rPr>
              <a:t>Ability to choose what is collected</a:t>
            </a:r>
            <a:endParaRPr lang="en-US" sz="1100"/>
          </a:p>
        </p:txBody>
      </p:sp>
      <p:sp>
        <p:nvSpPr>
          <p:cNvPr id="12" name="TextBox 12"/>
          <p:cNvSpPr txBox="1"/>
          <p:nvPr/>
        </p:nvSpPr>
        <p:spPr>
          <a:xfrm>
            <a:off x="4836565" y="4981026"/>
            <a:ext cx="2896801" cy="1890253"/>
          </a:xfrm>
          <a:prstGeom prst="rect">
            <a:avLst/>
          </a:prstGeom>
          <a:solidFill>
            <a:srgbClr val="000000">
              <a:alpha val="0"/>
            </a:srgbClr>
          </a:solidFill>
        </p:spPr>
        <p:txBody>
          <a:bodyPr lIns="0" tIns="0" rIns="0" bIns="0" rtlCol="0" anchor="ctr"/>
          <a:lstStyle/>
          <a:p>
            <a:pPr indent="0" algn="l">
              <a:lnSpc>
                <a:spcPct val="150000"/>
              </a:lnSpc>
              <a:defRPr/>
            </a:pPr>
            <a:r>
              <a:rPr lang="en-US" sz="1984" b="0">
                <a:solidFill>
                  <a:srgbClr val="D9D9D9"/>
                </a:solidFill>
                <a:latin typeface="Poppins"/>
              </a:rPr>
              <a:t>The power to decide which personal information organizations can gather about you</a:t>
            </a:r>
            <a:endParaRPr lang="en-US" sz="1100"/>
          </a:p>
        </p:txBody>
      </p:sp>
      <p:sp>
        <p:nvSpPr>
          <p:cNvPr id="13" name="AutoShape 13"/>
          <p:cNvSpPr/>
          <p:nvPr/>
        </p:nvSpPr>
        <p:spPr>
          <a:xfrm>
            <a:off x="8254012" y="3629077"/>
            <a:ext cx="3433798" cy="3510845"/>
          </a:xfrm>
          <a:prstGeom prst="rect">
            <a:avLst/>
          </a:prstGeom>
          <a:solidFill>
            <a:srgbClr val="33291B">
              <a:alpha val="71765"/>
            </a:srgbClr>
          </a:solidFill>
          <a:ln w="13547">
            <a:solidFill>
              <a:srgbClr val="9F6700">
                <a:alpha val="78824"/>
              </a:srgbClr>
            </a:solidFill>
          </a:ln>
        </p:spPr>
      </p:sp>
      <p:sp>
        <p:nvSpPr>
          <p:cNvPr id="14" name="TextBox 14"/>
          <p:cNvSpPr txBox="1"/>
          <p:nvPr/>
        </p:nvSpPr>
        <p:spPr>
          <a:xfrm>
            <a:off x="8522637" y="3897704"/>
            <a:ext cx="2896536" cy="907010"/>
          </a:xfrm>
          <a:prstGeom prst="rect">
            <a:avLst/>
          </a:prstGeom>
          <a:solidFill>
            <a:srgbClr val="000000">
              <a:alpha val="0"/>
            </a:srgbClr>
          </a:solidFill>
        </p:spPr>
        <p:txBody>
          <a:bodyPr lIns="0" tIns="0" rIns="0" bIns="0" rtlCol="0" anchor="ctr"/>
          <a:lstStyle/>
          <a:p>
            <a:pPr indent="0" algn="l">
              <a:lnSpc>
                <a:spcPct val="120000"/>
              </a:lnSpc>
              <a:defRPr/>
            </a:pPr>
            <a:r>
              <a:rPr lang="en-US" sz="2976" b="1">
                <a:solidFill>
                  <a:srgbClr val="FF9D09"/>
                </a:solidFill>
                <a:latin typeface="Belanosima"/>
              </a:rPr>
              <a:t>Ability to choose how it's used</a:t>
            </a:r>
            <a:endParaRPr lang="en-US" sz="1100"/>
          </a:p>
        </p:txBody>
      </p:sp>
      <p:sp>
        <p:nvSpPr>
          <p:cNvPr id="15" name="TextBox 15"/>
          <p:cNvSpPr txBox="1"/>
          <p:nvPr/>
        </p:nvSpPr>
        <p:spPr>
          <a:xfrm>
            <a:off x="8522637" y="4981026"/>
            <a:ext cx="2896536" cy="1890253"/>
          </a:xfrm>
          <a:prstGeom prst="rect">
            <a:avLst/>
          </a:prstGeom>
          <a:solidFill>
            <a:srgbClr val="000000">
              <a:alpha val="0"/>
            </a:srgbClr>
          </a:solidFill>
        </p:spPr>
        <p:txBody>
          <a:bodyPr lIns="0" tIns="0" rIns="0" bIns="0" rtlCol="0" anchor="ctr"/>
          <a:lstStyle/>
          <a:p>
            <a:pPr indent="0" algn="l">
              <a:lnSpc>
                <a:spcPct val="150000"/>
              </a:lnSpc>
              <a:defRPr/>
            </a:pPr>
            <a:r>
              <a:rPr lang="en-US" sz="1984" b="0">
                <a:solidFill>
                  <a:srgbClr val="D9D9D9"/>
                </a:solidFill>
                <a:latin typeface="Poppins"/>
              </a:rPr>
              <a:t>The right to determine the purposes for which your data can be processed and applied</a:t>
            </a:r>
            <a:endParaRPr lang="en-US" sz="1100"/>
          </a:p>
        </p:txBody>
      </p:sp>
      <p:sp>
        <p:nvSpPr>
          <p:cNvPr id="16" name="AutoShape 16"/>
          <p:cNvSpPr/>
          <p:nvPr/>
        </p:nvSpPr>
        <p:spPr>
          <a:xfrm>
            <a:off x="11939841" y="3629077"/>
            <a:ext cx="3434047" cy="3510845"/>
          </a:xfrm>
          <a:prstGeom prst="rect">
            <a:avLst/>
          </a:prstGeom>
          <a:solidFill>
            <a:srgbClr val="33291B">
              <a:alpha val="71765"/>
            </a:srgbClr>
          </a:solidFill>
          <a:ln w="13547">
            <a:solidFill>
              <a:srgbClr val="9F6700">
                <a:alpha val="78824"/>
              </a:srgbClr>
            </a:solidFill>
          </a:ln>
        </p:spPr>
      </p:sp>
      <p:sp>
        <p:nvSpPr>
          <p:cNvPr id="17" name="TextBox 17"/>
          <p:cNvSpPr txBox="1"/>
          <p:nvPr/>
        </p:nvSpPr>
        <p:spPr>
          <a:xfrm>
            <a:off x="12208466" y="3897704"/>
            <a:ext cx="2896801" cy="907010"/>
          </a:xfrm>
          <a:prstGeom prst="rect">
            <a:avLst/>
          </a:prstGeom>
          <a:solidFill>
            <a:srgbClr val="000000">
              <a:alpha val="0"/>
            </a:srgbClr>
          </a:solidFill>
        </p:spPr>
        <p:txBody>
          <a:bodyPr lIns="0" tIns="0" rIns="0" bIns="0" rtlCol="0" anchor="ctr"/>
          <a:lstStyle/>
          <a:p>
            <a:pPr indent="0" algn="l">
              <a:lnSpc>
                <a:spcPct val="120000"/>
              </a:lnSpc>
              <a:defRPr/>
            </a:pPr>
            <a:r>
              <a:rPr lang="en-US" sz="2976" b="1">
                <a:solidFill>
                  <a:srgbClr val="FF9D09"/>
                </a:solidFill>
                <a:latin typeface="Belanosima"/>
              </a:rPr>
              <a:t>Ability to choose who can access it</a:t>
            </a:r>
            <a:endParaRPr lang="en-US" sz="1100"/>
          </a:p>
        </p:txBody>
      </p:sp>
      <p:sp>
        <p:nvSpPr>
          <p:cNvPr id="18" name="TextBox 18"/>
          <p:cNvSpPr txBox="1"/>
          <p:nvPr/>
        </p:nvSpPr>
        <p:spPr>
          <a:xfrm>
            <a:off x="12208466" y="4981026"/>
            <a:ext cx="2896801" cy="1890253"/>
          </a:xfrm>
          <a:prstGeom prst="rect">
            <a:avLst/>
          </a:prstGeom>
          <a:solidFill>
            <a:srgbClr val="000000">
              <a:alpha val="0"/>
            </a:srgbClr>
          </a:solidFill>
        </p:spPr>
        <p:txBody>
          <a:bodyPr lIns="0" tIns="0" rIns="0" bIns="0" rtlCol="0" anchor="ctr"/>
          <a:lstStyle/>
          <a:p>
            <a:pPr indent="0" algn="l">
              <a:lnSpc>
                <a:spcPct val="150000"/>
              </a:lnSpc>
              <a:defRPr/>
            </a:pPr>
            <a:r>
              <a:rPr lang="en-US" sz="1984" b="0">
                <a:solidFill>
                  <a:srgbClr val="D9D9D9"/>
                </a:solidFill>
                <a:latin typeface="Poppins"/>
              </a:rPr>
              <a:t>The authority to control which parties and entities have permission to view or use your information</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a:ln w="13547">
            <a:solidFill>
              <a:srgbClr val="B46F00"/>
            </a:solidFill>
          </a:ln>
        </p:spPr>
      </p:sp>
      <p:pic>
        <p:nvPicPr>
          <p:cNvPr id="3" name="Picture 3"/>
          <p:cNvPicPr>
            <a:picLocks noChangeAspect="1"/>
          </p:cNvPicPr>
          <p:nvPr/>
        </p:nvPicPr>
        <p:blipFill>
          <a:blip r:embed="rId3"/>
          <a:srcRect t="74" b="74"/>
          <a:stretch>
            <a:fillRect/>
          </a:stretch>
        </p:blipFill>
        <p:spPr>
          <a:xfrm>
            <a:off x="0" y="0"/>
            <a:ext cx="16256000" cy="9144000"/>
          </a:xfrm>
          <a:prstGeom prst="rect">
            <a:avLst/>
          </a:prstGeom>
        </p:spPr>
      </p:pic>
      <p:pic>
        <p:nvPicPr>
          <p:cNvPr id="4" name="Picture 4"/>
          <p:cNvPicPr>
            <a:picLocks noChangeAspect="1"/>
          </p:cNvPicPr>
          <p:nvPr/>
        </p:nvPicPr>
        <p:blipFill>
          <a:blip r:embed="rId4"/>
          <a:srcRect t="656" b="656"/>
          <a:stretch>
            <a:fillRect/>
          </a:stretch>
        </p:blipFill>
        <p:spPr>
          <a:xfrm>
            <a:off x="16591" y="12777"/>
            <a:ext cx="5185305" cy="9118444"/>
          </a:xfrm>
          <a:prstGeom prst="roundRect">
            <a:avLst>
              <a:gd name="adj" fmla="val 3743"/>
            </a:avLst>
          </a:prstGeom>
        </p:spPr>
      </p:pic>
      <p:sp>
        <p:nvSpPr>
          <p:cNvPr id="5" name="TextBox 5"/>
          <p:cNvSpPr txBox="1"/>
          <p:nvPr/>
        </p:nvSpPr>
        <p:spPr>
          <a:xfrm>
            <a:off x="6084004" y="533769"/>
            <a:ext cx="9289630" cy="465677"/>
          </a:xfrm>
          <a:prstGeom prst="rect">
            <a:avLst/>
          </a:prstGeom>
          <a:solidFill>
            <a:srgbClr val="000000">
              <a:alpha val="0"/>
            </a:srgbClr>
          </a:solidFill>
        </p:spPr>
        <p:txBody>
          <a:bodyPr lIns="0" tIns="0" rIns="0" bIns="0" rtlCol="0" anchor="ctr"/>
          <a:lstStyle/>
          <a:p>
            <a:pPr indent="0" algn="l">
              <a:lnSpc>
                <a:spcPct val="120000"/>
              </a:lnSpc>
              <a:defRPr/>
            </a:pPr>
            <a:r>
              <a:rPr lang="en-US" sz="3056" b="1">
                <a:solidFill>
                  <a:srgbClr val="FF9D09"/>
                </a:solidFill>
                <a:latin typeface="Belanosima"/>
              </a:rPr>
              <a:t>Why Privacy Matters?</a:t>
            </a:r>
            <a:endParaRPr lang="en-US" sz="1100"/>
          </a:p>
        </p:txBody>
      </p:sp>
      <p:sp>
        <p:nvSpPr>
          <p:cNvPr id="6" name="TextBox 6"/>
          <p:cNvSpPr txBox="1"/>
          <p:nvPr/>
        </p:nvSpPr>
        <p:spPr>
          <a:xfrm>
            <a:off x="6084004" y="1217703"/>
            <a:ext cx="9289630" cy="349258"/>
          </a:xfrm>
          <a:prstGeom prst="rect">
            <a:avLst/>
          </a:prstGeom>
          <a:solidFill>
            <a:srgbClr val="000000">
              <a:alpha val="0"/>
            </a:srgbClr>
          </a:solidFill>
        </p:spPr>
        <p:txBody>
          <a:bodyPr lIns="0" tIns="0" rIns="0" bIns="0" rtlCol="0" anchor="ctr"/>
          <a:lstStyle/>
          <a:p>
            <a:pPr indent="0" algn="l">
              <a:lnSpc>
                <a:spcPct val="120000"/>
              </a:lnSpc>
              <a:defRPr/>
            </a:pPr>
            <a:r>
              <a:rPr lang="en-US" sz="2292" b="1">
                <a:solidFill>
                  <a:srgbClr val="FF9D09"/>
                </a:solidFill>
                <a:latin typeface="Belanosima"/>
              </a:rPr>
              <a:t>The Stakes Are Higher Than Ever</a:t>
            </a:r>
            <a:endParaRPr lang="en-US" sz="1100"/>
          </a:p>
        </p:txBody>
      </p:sp>
      <p:sp>
        <p:nvSpPr>
          <p:cNvPr id="7" name="AutoShape 7"/>
          <p:cNvSpPr/>
          <p:nvPr/>
        </p:nvSpPr>
        <p:spPr>
          <a:xfrm>
            <a:off x="6084004" y="1785228"/>
            <a:ext cx="9289630" cy="6825000"/>
          </a:xfrm>
          <a:prstGeom prst="rect">
            <a:avLst/>
          </a:prstGeom>
          <a:solidFill>
            <a:srgbClr val="000000">
              <a:alpha val="0"/>
            </a:srgbClr>
          </a:solidFill>
        </p:spPr>
      </p:sp>
      <p:sp>
        <p:nvSpPr>
          <p:cNvPr id="8" name="AutoShape 8"/>
          <p:cNvSpPr/>
          <p:nvPr/>
        </p:nvSpPr>
        <p:spPr>
          <a:xfrm>
            <a:off x="6084004" y="1785228"/>
            <a:ext cx="2928429" cy="4043327"/>
          </a:xfrm>
          <a:prstGeom prst="rect">
            <a:avLst/>
          </a:prstGeom>
          <a:solidFill>
            <a:srgbClr val="33291B">
              <a:alpha val="71765"/>
            </a:srgbClr>
          </a:solidFill>
          <a:ln w="13547">
            <a:solidFill>
              <a:srgbClr val="9F6700">
                <a:alpha val="78824"/>
              </a:srgbClr>
            </a:solidFill>
          </a:ln>
        </p:spPr>
      </p:sp>
      <p:sp>
        <p:nvSpPr>
          <p:cNvPr id="9" name="TextBox 9"/>
          <p:cNvSpPr txBox="1"/>
          <p:nvPr/>
        </p:nvSpPr>
        <p:spPr>
          <a:xfrm>
            <a:off x="6352628" y="1992106"/>
            <a:ext cx="2391183" cy="582296"/>
          </a:xfrm>
          <a:prstGeom prst="rect">
            <a:avLst/>
          </a:prstGeom>
          <a:solidFill>
            <a:srgbClr val="000000">
              <a:alpha val="0"/>
            </a:srgbClr>
          </a:solidFill>
        </p:spPr>
        <p:txBody>
          <a:bodyPr lIns="0" tIns="0" rIns="0" bIns="0" rtlCol="0" anchor="ctr"/>
          <a:lstStyle/>
          <a:p>
            <a:pPr indent="0" algn="l">
              <a:lnSpc>
                <a:spcPct val="120000"/>
              </a:lnSpc>
              <a:defRPr/>
            </a:pPr>
            <a:r>
              <a:rPr lang="en-US" sz="1910" b="1">
                <a:solidFill>
                  <a:srgbClr val="FF9A0C"/>
                </a:solidFill>
                <a:latin typeface="Belanosima"/>
              </a:rPr>
              <a:t>Massive Data Collection</a:t>
            </a:r>
            <a:endParaRPr lang="en-US" sz="1100"/>
          </a:p>
        </p:txBody>
      </p:sp>
      <p:sp>
        <p:nvSpPr>
          <p:cNvPr id="10" name="TextBox 10"/>
          <p:cNvSpPr txBox="1"/>
          <p:nvPr/>
        </p:nvSpPr>
        <p:spPr>
          <a:xfrm>
            <a:off x="6352628" y="2710183"/>
            <a:ext cx="2391183" cy="2911480"/>
          </a:xfrm>
          <a:prstGeom prst="rect">
            <a:avLst/>
          </a:prstGeom>
          <a:solidFill>
            <a:srgbClr val="000000">
              <a:alpha val="0"/>
            </a:srgbClr>
          </a:solidFill>
        </p:spPr>
        <p:txBody>
          <a:bodyPr lIns="0" tIns="0" rIns="0" bIns="0" rtlCol="0" anchor="ctr"/>
          <a:lstStyle/>
          <a:p>
            <a:pPr indent="0" algn="l">
              <a:lnSpc>
                <a:spcPct val="150000"/>
              </a:lnSpc>
              <a:defRPr/>
            </a:pPr>
            <a:r>
              <a:rPr lang="en-US" sz="1528" b="0">
                <a:solidFill>
                  <a:srgbClr val="D9D9D9"/>
                </a:solidFill>
                <a:latin typeface="Poppins"/>
              </a:rPr>
              <a:t>Companies gather vast amounts of personal information from every online interaction, creating detailed profiles of our behaviors and preferences.</a:t>
            </a:r>
            <a:endParaRPr lang="en-US" sz="1100"/>
          </a:p>
        </p:txBody>
      </p:sp>
      <p:sp>
        <p:nvSpPr>
          <p:cNvPr id="11" name="AutoShape 11"/>
          <p:cNvSpPr/>
          <p:nvPr/>
        </p:nvSpPr>
        <p:spPr>
          <a:xfrm>
            <a:off x="9264473" y="1785228"/>
            <a:ext cx="2928429" cy="4043327"/>
          </a:xfrm>
          <a:prstGeom prst="rect">
            <a:avLst/>
          </a:prstGeom>
          <a:solidFill>
            <a:srgbClr val="33291B">
              <a:alpha val="71765"/>
            </a:srgbClr>
          </a:solidFill>
          <a:ln w="13547">
            <a:solidFill>
              <a:srgbClr val="9F6700">
                <a:alpha val="78824"/>
              </a:srgbClr>
            </a:solidFill>
          </a:ln>
        </p:spPr>
      </p:sp>
      <p:sp>
        <p:nvSpPr>
          <p:cNvPr id="12" name="TextBox 12"/>
          <p:cNvSpPr txBox="1"/>
          <p:nvPr/>
        </p:nvSpPr>
        <p:spPr>
          <a:xfrm>
            <a:off x="9533098" y="1992106"/>
            <a:ext cx="2391183" cy="582296"/>
          </a:xfrm>
          <a:prstGeom prst="rect">
            <a:avLst/>
          </a:prstGeom>
          <a:solidFill>
            <a:srgbClr val="000000">
              <a:alpha val="0"/>
            </a:srgbClr>
          </a:solidFill>
        </p:spPr>
        <p:txBody>
          <a:bodyPr lIns="0" tIns="0" rIns="0" bIns="0" rtlCol="0" anchor="ctr"/>
          <a:lstStyle/>
          <a:p>
            <a:pPr indent="0" algn="l">
              <a:lnSpc>
                <a:spcPct val="120000"/>
              </a:lnSpc>
              <a:defRPr/>
            </a:pPr>
            <a:r>
              <a:rPr lang="en-US" sz="1910" b="1">
                <a:solidFill>
                  <a:srgbClr val="FF9A0C"/>
                </a:solidFill>
                <a:latin typeface="Belanosima"/>
              </a:rPr>
              <a:t>AI Models Trained on Personal Info</a:t>
            </a:r>
            <a:endParaRPr lang="en-US" sz="1100"/>
          </a:p>
        </p:txBody>
      </p:sp>
      <p:sp>
        <p:nvSpPr>
          <p:cNvPr id="13" name="TextBox 13"/>
          <p:cNvSpPr txBox="1"/>
          <p:nvPr/>
        </p:nvSpPr>
        <p:spPr>
          <a:xfrm>
            <a:off x="9533098" y="2710183"/>
            <a:ext cx="2391183" cy="2620332"/>
          </a:xfrm>
          <a:prstGeom prst="rect">
            <a:avLst/>
          </a:prstGeom>
          <a:solidFill>
            <a:srgbClr val="000000">
              <a:alpha val="0"/>
            </a:srgbClr>
          </a:solidFill>
        </p:spPr>
        <p:txBody>
          <a:bodyPr lIns="0" tIns="0" rIns="0" bIns="0" rtlCol="0" anchor="ctr"/>
          <a:lstStyle/>
          <a:p>
            <a:pPr indent="0" algn="l">
              <a:lnSpc>
                <a:spcPct val="150000"/>
              </a:lnSpc>
              <a:defRPr/>
            </a:pPr>
            <a:r>
              <a:rPr lang="en-US" sz="1528" b="0">
                <a:solidFill>
                  <a:srgbClr val="D9D9D9"/>
                </a:solidFill>
                <a:latin typeface="Poppins"/>
              </a:rPr>
              <a:t>Machine learning systems are increasingly built using collected personal data, raising concerns about consent and the purposes of these models.</a:t>
            </a:r>
            <a:endParaRPr lang="en-US" sz="1100"/>
          </a:p>
        </p:txBody>
      </p:sp>
      <p:sp>
        <p:nvSpPr>
          <p:cNvPr id="14" name="AutoShape 14"/>
          <p:cNvSpPr/>
          <p:nvPr/>
        </p:nvSpPr>
        <p:spPr>
          <a:xfrm>
            <a:off x="12444943" y="1785228"/>
            <a:ext cx="2928694" cy="4043327"/>
          </a:xfrm>
          <a:prstGeom prst="rect">
            <a:avLst/>
          </a:prstGeom>
          <a:solidFill>
            <a:srgbClr val="33291B">
              <a:alpha val="71765"/>
            </a:srgbClr>
          </a:solidFill>
          <a:ln w="13547">
            <a:solidFill>
              <a:srgbClr val="9F6700">
                <a:alpha val="78824"/>
              </a:srgbClr>
            </a:solidFill>
          </a:ln>
        </p:spPr>
      </p:sp>
      <p:sp>
        <p:nvSpPr>
          <p:cNvPr id="15" name="TextBox 15"/>
          <p:cNvSpPr txBox="1"/>
          <p:nvPr/>
        </p:nvSpPr>
        <p:spPr>
          <a:xfrm>
            <a:off x="12713567" y="1992106"/>
            <a:ext cx="2391448" cy="582296"/>
          </a:xfrm>
          <a:prstGeom prst="rect">
            <a:avLst/>
          </a:prstGeom>
          <a:solidFill>
            <a:srgbClr val="000000">
              <a:alpha val="0"/>
            </a:srgbClr>
          </a:solidFill>
        </p:spPr>
        <p:txBody>
          <a:bodyPr lIns="0" tIns="0" rIns="0" bIns="0" rtlCol="0" anchor="ctr"/>
          <a:lstStyle/>
          <a:p>
            <a:pPr indent="0" algn="l">
              <a:lnSpc>
                <a:spcPct val="120000"/>
              </a:lnSpc>
              <a:defRPr/>
            </a:pPr>
            <a:r>
              <a:rPr lang="en-US" sz="1910" b="1">
                <a:solidFill>
                  <a:srgbClr val="FF9A0C"/>
                </a:solidFill>
                <a:latin typeface="Belanosima"/>
              </a:rPr>
              <a:t>Cloud Storage Vulnerabilities</a:t>
            </a:r>
            <a:endParaRPr lang="en-US" sz="1100"/>
          </a:p>
        </p:txBody>
      </p:sp>
      <p:sp>
        <p:nvSpPr>
          <p:cNvPr id="16" name="TextBox 16"/>
          <p:cNvSpPr txBox="1"/>
          <p:nvPr/>
        </p:nvSpPr>
        <p:spPr>
          <a:xfrm>
            <a:off x="12713567" y="2710183"/>
            <a:ext cx="2391448" cy="2620332"/>
          </a:xfrm>
          <a:prstGeom prst="rect">
            <a:avLst/>
          </a:prstGeom>
          <a:solidFill>
            <a:srgbClr val="000000">
              <a:alpha val="0"/>
            </a:srgbClr>
          </a:solidFill>
        </p:spPr>
        <p:txBody>
          <a:bodyPr lIns="0" tIns="0" rIns="0" bIns="0" rtlCol="0" anchor="ctr"/>
          <a:lstStyle/>
          <a:p>
            <a:pPr indent="0" algn="l">
              <a:lnSpc>
                <a:spcPct val="150000"/>
              </a:lnSpc>
              <a:defRPr/>
            </a:pPr>
            <a:r>
              <a:rPr lang="en-US" sz="1528" b="0">
                <a:solidFill>
                  <a:srgbClr val="D9D9D9"/>
                </a:solidFill>
                <a:latin typeface="Poppins"/>
              </a:rPr>
              <a:t>As data migrates to cloud platforms, new security risks emerge, with potential exposure through misconfigurations and unauthorized access.</a:t>
            </a:r>
            <a:endParaRPr lang="en-US" sz="1100"/>
          </a:p>
        </p:txBody>
      </p:sp>
      <p:sp>
        <p:nvSpPr>
          <p:cNvPr id="17" name="AutoShape 17"/>
          <p:cNvSpPr/>
          <p:nvPr/>
        </p:nvSpPr>
        <p:spPr>
          <a:xfrm>
            <a:off x="6084004" y="6022642"/>
            <a:ext cx="4518667" cy="2587587"/>
          </a:xfrm>
          <a:prstGeom prst="rect">
            <a:avLst/>
          </a:prstGeom>
          <a:solidFill>
            <a:srgbClr val="33291B">
              <a:alpha val="71765"/>
            </a:srgbClr>
          </a:solidFill>
          <a:ln w="13547">
            <a:solidFill>
              <a:srgbClr val="9F6700">
                <a:alpha val="78824"/>
              </a:srgbClr>
            </a:solidFill>
          </a:ln>
        </p:spPr>
      </p:sp>
      <p:sp>
        <p:nvSpPr>
          <p:cNvPr id="18" name="TextBox 18"/>
          <p:cNvSpPr txBox="1"/>
          <p:nvPr/>
        </p:nvSpPr>
        <p:spPr>
          <a:xfrm>
            <a:off x="6352628" y="6229526"/>
            <a:ext cx="3981421" cy="582296"/>
          </a:xfrm>
          <a:prstGeom prst="rect">
            <a:avLst/>
          </a:prstGeom>
          <a:solidFill>
            <a:srgbClr val="000000">
              <a:alpha val="0"/>
            </a:srgbClr>
          </a:solidFill>
        </p:spPr>
        <p:txBody>
          <a:bodyPr lIns="0" tIns="0" rIns="0" bIns="0" rtlCol="0" anchor="ctr"/>
          <a:lstStyle/>
          <a:p>
            <a:pPr indent="0" algn="l">
              <a:lnSpc>
                <a:spcPct val="120000"/>
              </a:lnSpc>
              <a:defRPr/>
            </a:pPr>
            <a:r>
              <a:rPr lang="en-US" sz="1910" b="1">
                <a:solidFill>
                  <a:srgbClr val="FF9A0C"/>
                </a:solidFill>
                <a:latin typeface="Belanosima"/>
              </a:rPr>
              <a:t>Data Breaches Affecting Millions</a:t>
            </a:r>
            <a:endParaRPr lang="en-US" sz="1100"/>
          </a:p>
        </p:txBody>
      </p:sp>
      <p:sp>
        <p:nvSpPr>
          <p:cNvPr id="19" name="TextBox 19"/>
          <p:cNvSpPr txBox="1"/>
          <p:nvPr/>
        </p:nvSpPr>
        <p:spPr>
          <a:xfrm>
            <a:off x="6352628" y="6947608"/>
            <a:ext cx="3981421" cy="1455740"/>
          </a:xfrm>
          <a:prstGeom prst="rect">
            <a:avLst/>
          </a:prstGeom>
          <a:solidFill>
            <a:srgbClr val="000000">
              <a:alpha val="0"/>
            </a:srgbClr>
          </a:solidFill>
        </p:spPr>
        <p:txBody>
          <a:bodyPr lIns="0" tIns="0" rIns="0" bIns="0" rtlCol="0" anchor="ctr"/>
          <a:lstStyle/>
          <a:p>
            <a:pPr indent="0" algn="l">
              <a:lnSpc>
                <a:spcPct val="150000"/>
              </a:lnSpc>
              <a:defRPr/>
            </a:pPr>
            <a:r>
              <a:rPr lang="en-US" sz="1528" b="0">
                <a:solidFill>
                  <a:srgbClr val="D9D9D9"/>
                </a:solidFill>
                <a:latin typeface="Poppins"/>
              </a:rPr>
              <a:t>High-profile breaches expose sensitive information of millions of users, compromising identities and financial security at scale.</a:t>
            </a:r>
            <a:endParaRPr lang="en-US" sz="1100"/>
          </a:p>
        </p:txBody>
      </p:sp>
      <p:sp>
        <p:nvSpPr>
          <p:cNvPr id="20" name="AutoShape 20"/>
          <p:cNvSpPr/>
          <p:nvPr/>
        </p:nvSpPr>
        <p:spPr>
          <a:xfrm>
            <a:off x="10854708" y="6022642"/>
            <a:ext cx="4518932" cy="2587587"/>
          </a:xfrm>
          <a:prstGeom prst="rect">
            <a:avLst/>
          </a:prstGeom>
          <a:solidFill>
            <a:srgbClr val="33291B">
              <a:alpha val="71765"/>
            </a:srgbClr>
          </a:solidFill>
          <a:ln w="13547">
            <a:solidFill>
              <a:srgbClr val="9F6700">
                <a:alpha val="78824"/>
              </a:srgbClr>
            </a:solidFill>
          </a:ln>
        </p:spPr>
      </p:sp>
      <p:sp>
        <p:nvSpPr>
          <p:cNvPr id="21" name="TextBox 21"/>
          <p:cNvSpPr txBox="1"/>
          <p:nvPr/>
        </p:nvSpPr>
        <p:spPr>
          <a:xfrm>
            <a:off x="11123332" y="6229526"/>
            <a:ext cx="3981670" cy="582296"/>
          </a:xfrm>
          <a:prstGeom prst="rect">
            <a:avLst/>
          </a:prstGeom>
          <a:solidFill>
            <a:srgbClr val="000000">
              <a:alpha val="0"/>
            </a:srgbClr>
          </a:solidFill>
        </p:spPr>
        <p:txBody>
          <a:bodyPr lIns="0" tIns="0" rIns="0" bIns="0" rtlCol="0" anchor="ctr"/>
          <a:lstStyle/>
          <a:p>
            <a:pPr indent="0" algn="l">
              <a:lnSpc>
                <a:spcPct val="120000"/>
              </a:lnSpc>
              <a:defRPr/>
            </a:pPr>
            <a:r>
              <a:rPr lang="en-US" sz="1910" b="1">
                <a:solidFill>
                  <a:srgbClr val="FF9A0C"/>
                </a:solidFill>
                <a:latin typeface="Belanosima"/>
              </a:rPr>
              <a:t>Surveillance Becoming Normalized</a:t>
            </a:r>
            <a:endParaRPr lang="en-US" sz="1100"/>
          </a:p>
        </p:txBody>
      </p:sp>
      <p:sp>
        <p:nvSpPr>
          <p:cNvPr id="22" name="TextBox 22"/>
          <p:cNvSpPr txBox="1"/>
          <p:nvPr/>
        </p:nvSpPr>
        <p:spPr>
          <a:xfrm>
            <a:off x="11123332" y="6947608"/>
            <a:ext cx="3981670" cy="1455740"/>
          </a:xfrm>
          <a:prstGeom prst="rect">
            <a:avLst/>
          </a:prstGeom>
          <a:solidFill>
            <a:srgbClr val="000000">
              <a:alpha val="0"/>
            </a:srgbClr>
          </a:solidFill>
        </p:spPr>
        <p:txBody>
          <a:bodyPr lIns="0" tIns="0" rIns="0" bIns="0" rtlCol="0" anchor="ctr"/>
          <a:lstStyle/>
          <a:p>
            <a:pPr indent="0" algn="l">
              <a:lnSpc>
                <a:spcPct val="150000"/>
              </a:lnSpc>
              <a:defRPr/>
            </a:pPr>
            <a:r>
              <a:rPr lang="en-US" sz="1528" b="0">
                <a:solidFill>
                  <a:srgbClr val="D9D9D9"/>
                </a:solidFill>
                <a:latin typeface="Poppins"/>
              </a:rPr>
              <a:t>Constant monitoring through devices and platforms has become routine, gradually eroding the expectation of privacy in daily life.</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a:ln w="13547">
            <a:solidFill>
              <a:srgbClr val="B46F00"/>
            </a:solidFill>
          </a:ln>
        </p:spPr>
      </p:sp>
      <p:pic>
        <p:nvPicPr>
          <p:cNvPr id="3" name="Picture 3"/>
          <p:cNvPicPr>
            <a:picLocks noChangeAspect="1"/>
          </p:cNvPicPr>
          <p:nvPr/>
        </p:nvPicPr>
        <p:blipFill>
          <a:blip r:embed="rId3"/>
          <a:srcRect t="74" b="74"/>
          <a:stretch>
            <a:fillRect/>
          </a:stretch>
        </p:blipFill>
        <p:spPr>
          <a:xfrm>
            <a:off x="0" y="0"/>
            <a:ext cx="16256000" cy="9144000"/>
          </a:xfrm>
          <a:prstGeom prst="rect">
            <a:avLst/>
          </a:prstGeom>
        </p:spPr>
      </p:pic>
      <p:sp>
        <p:nvSpPr>
          <p:cNvPr id="4" name="TextBox 4"/>
          <p:cNvSpPr txBox="1"/>
          <p:nvPr/>
        </p:nvSpPr>
        <p:spPr>
          <a:xfrm>
            <a:off x="882112" y="611672"/>
            <a:ext cx="14491783" cy="533643"/>
          </a:xfrm>
          <a:prstGeom prst="rect">
            <a:avLst/>
          </a:prstGeom>
          <a:solidFill>
            <a:srgbClr val="000000">
              <a:alpha val="0"/>
            </a:srgbClr>
          </a:solidFill>
        </p:spPr>
        <p:txBody>
          <a:bodyPr lIns="0" tIns="0" rIns="0" bIns="0" rtlCol="0" anchor="ctr"/>
          <a:lstStyle/>
          <a:p>
            <a:pPr indent="0" algn="l">
              <a:lnSpc>
                <a:spcPct val="120000"/>
              </a:lnSpc>
              <a:defRPr/>
            </a:pPr>
            <a:r>
              <a:rPr lang="en-US" sz="3502" b="1">
                <a:solidFill>
                  <a:srgbClr val="FF9D09"/>
                </a:solidFill>
                <a:latin typeface="Belanosima"/>
              </a:rPr>
              <a:t>Core Computing Issues</a:t>
            </a:r>
            <a:endParaRPr lang="en-US" sz="1100"/>
          </a:p>
        </p:txBody>
      </p:sp>
      <p:sp>
        <p:nvSpPr>
          <p:cNvPr id="5" name="TextBox 5"/>
          <p:cNvSpPr txBox="1"/>
          <p:nvPr/>
        </p:nvSpPr>
        <p:spPr>
          <a:xfrm>
            <a:off x="882112" y="1395433"/>
            <a:ext cx="14491783" cy="400232"/>
          </a:xfrm>
          <a:prstGeom prst="rect">
            <a:avLst/>
          </a:prstGeom>
          <a:solidFill>
            <a:srgbClr val="000000">
              <a:alpha val="0"/>
            </a:srgbClr>
          </a:solidFill>
        </p:spPr>
        <p:txBody>
          <a:bodyPr lIns="0" tIns="0" rIns="0" bIns="0" rtlCol="0" anchor="ctr"/>
          <a:lstStyle/>
          <a:p>
            <a:pPr indent="0" algn="l">
              <a:lnSpc>
                <a:spcPct val="120000"/>
              </a:lnSpc>
              <a:defRPr/>
            </a:pPr>
            <a:r>
              <a:rPr lang="en-US" sz="2627" b="1">
                <a:solidFill>
                  <a:srgbClr val="FF9D09"/>
                </a:solidFill>
                <a:latin typeface="Belanosima"/>
              </a:rPr>
              <a:t>Where Privacy Breaks Down</a:t>
            </a:r>
            <a:endParaRPr lang="en-US" sz="1100"/>
          </a:p>
        </p:txBody>
      </p:sp>
      <p:sp>
        <p:nvSpPr>
          <p:cNvPr id="6" name="AutoShape 6"/>
          <p:cNvSpPr/>
          <p:nvPr/>
        </p:nvSpPr>
        <p:spPr>
          <a:xfrm>
            <a:off x="882112" y="2045782"/>
            <a:ext cx="14491783" cy="6486543"/>
          </a:xfrm>
          <a:prstGeom prst="rect">
            <a:avLst/>
          </a:prstGeom>
          <a:solidFill>
            <a:srgbClr val="000000">
              <a:alpha val="0"/>
            </a:srgbClr>
          </a:solidFill>
        </p:spPr>
      </p:sp>
      <p:sp>
        <p:nvSpPr>
          <p:cNvPr id="7" name="AutoShape 7"/>
          <p:cNvSpPr/>
          <p:nvPr/>
        </p:nvSpPr>
        <p:spPr>
          <a:xfrm>
            <a:off x="882112" y="2045782"/>
            <a:ext cx="3433798" cy="4633449"/>
          </a:xfrm>
          <a:prstGeom prst="rect">
            <a:avLst/>
          </a:prstGeom>
          <a:solidFill>
            <a:srgbClr val="000000">
              <a:alpha val="0"/>
            </a:srgbClr>
          </a:solidFill>
          <a:ln w="13547">
            <a:solidFill>
              <a:srgbClr val="9F6700">
                <a:alpha val="78824"/>
              </a:srgbClr>
            </a:solidFill>
          </a:ln>
        </p:spPr>
      </p:sp>
      <p:sp>
        <p:nvSpPr>
          <p:cNvPr id="8" name="TextBox 8"/>
          <p:cNvSpPr txBox="1"/>
          <p:nvPr/>
        </p:nvSpPr>
        <p:spPr>
          <a:xfrm>
            <a:off x="1150736" y="2282854"/>
            <a:ext cx="2896536" cy="333641"/>
          </a:xfrm>
          <a:prstGeom prst="rect">
            <a:avLst/>
          </a:prstGeom>
          <a:solidFill>
            <a:srgbClr val="000000">
              <a:alpha val="0"/>
            </a:srgbClr>
          </a:solidFill>
        </p:spPr>
        <p:txBody>
          <a:bodyPr lIns="0" tIns="0" rIns="0" bIns="0" rtlCol="0" anchor="ctr"/>
          <a:lstStyle/>
          <a:p>
            <a:pPr indent="0" algn="l">
              <a:lnSpc>
                <a:spcPct val="120000"/>
              </a:lnSpc>
              <a:defRPr/>
            </a:pPr>
            <a:r>
              <a:rPr lang="en-US" sz="2189" b="1">
                <a:solidFill>
                  <a:srgbClr val="FF9A0C"/>
                </a:solidFill>
                <a:latin typeface="Belanosima"/>
              </a:rPr>
              <a:t>Weak Encryption</a:t>
            </a:r>
            <a:endParaRPr lang="en-US" sz="1100"/>
          </a:p>
        </p:txBody>
      </p:sp>
      <p:sp>
        <p:nvSpPr>
          <p:cNvPr id="9" name="TextBox 9"/>
          <p:cNvSpPr txBox="1"/>
          <p:nvPr/>
        </p:nvSpPr>
        <p:spPr>
          <a:xfrm>
            <a:off x="1150736" y="2772102"/>
            <a:ext cx="2896536" cy="3002769"/>
          </a:xfrm>
          <a:prstGeom prst="rect">
            <a:avLst/>
          </a:prstGeom>
          <a:solidFill>
            <a:srgbClr val="000000">
              <a:alpha val="0"/>
            </a:srgbClr>
          </a:solidFill>
        </p:spPr>
        <p:txBody>
          <a:bodyPr lIns="0" tIns="0" rIns="0" bIns="0" rtlCol="0" anchor="ctr"/>
          <a:lstStyle/>
          <a:p>
            <a:pPr indent="0" algn="l">
              <a:lnSpc>
                <a:spcPct val="150000"/>
              </a:lnSpc>
              <a:defRPr/>
            </a:pPr>
            <a:r>
              <a:rPr lang="en-US" sz="1751" b="0">
                <a:solidFill>
                  <a:srgbClr val="D9D9D9"/>
                </a:solidFill>
                <a:latin typeface="Poppins"/>
              </a:rPr>
              <a:t>Inadequate encryption protocols and poor key management expose sensitive data to unauthorized access and interception during transmission and storage.</a:t>
            </a:r>
            <a:endParaRPr lang="en-US" sz="1100"/>
          </a:p>
        </p:txBody>
      </p:sp>
      <p:sp>
        <p:nvSpPr>
          <p:cNvPr id="10" name="AutoShape 10"/>
          <p:cNvSpPr/>
          <p:nvPr/>
        </p:nvSpPr>
        <p:spPr>
          <a:xfrm>
            <a:off x="4567940" y="2045782"/>
            <a:ext cx="3434047" cy="4633449"/>
          </a:xfrm>
          <a:prstGeom prst="rect">
            <a:avLst/>
          </a:prstGeom>
          <a:solidFill>
            <a:srgbClr val="000000">
              <a:alpha val="0"/>
            </a:srgbClr>
          </a:solidFill>
          <a:ln w="13547">
            <a:solidFill>
              <a:srgbClr val="9F6700">
                <a:alpha val="78824"/>
              </a:srgbClr>
            </a:solidFill>
          </a:ln>
        </p:spPr>
      </p:sp>
      <p:sp>
        <p:nvSpPr>
          <p:cNvPr id="11" name="TextBox 11"/>
          <p:cNvSpPr txBox="1"/>
          <p:nvPr/>
        </p:nvSpPr>
        <p:spPr>
          <a:xfrm>
            <a:off x="4836565" y="2282854"/>
            <a:ext cx="2896801" cy="667282"/>
          </a:xfrm>
          <a:prstGeom prst="rect">
            <a:avLst/>
          </a:prstGeom>
          <a:solidFill>
            <a:srgbClr val="000000">
              <a:alpha val="0"/>
            </a:srgbClr>
          </a:solidFill>
        </p:spPr>
        <p:txBody>
          <a:bodyPr lIns="0" tIns="0" rIns="0" bIns="0" rtlCol="0" anchor="ctr"/>
          <a:lstStyle/>
          <a:p>
            <a:pPr indent="0" algn="l">
              <a:lnSpc>
                <a:spcPct val="120000"/>
              </a:lnSpc>
              <a:defRPr/>
            </a:pPr>
            <a:r>
              <a:rPr lang="en-US" sz="2189" b="1">
                <a:solidFill>
                  <a:srgbClr val="FF9A0C"/>
                </a:solidFill>
                <a:latin typeface="Belanosima"/>
              </a:rPr>
              <a:t>Excessive Data Collection</a:t>
            </a:r>
            <a:endParaRPr lang="en-US" sz="1100"/>
          </a:p>
        </p:txBody>
      </p:sp>
      <p:sp>
        <p:nvSpPr>
          <p:cNvPr id="12" name="TextBox 12"/>
          <p:cNvSpPr txBox="1"/>
          <p:nvPr/>
        </p:nvSpPr>
        <p:spPr>
          <a:xfrm>
            <a:off x="4836565" y="3105740"/>
            <a:ext cx="2896801" cy="3002769"/>
          </a:xfrm>
          <a:prstGeom prst="rect">
            <a:avLst/>
          </a:prstGeom>
          <a:solidFill>
            <a:srgbClr val="000000">
              <a:alpha val="0"/>
            </a:srgbClr>
          </a:solidFill>
        </p:spPr>
        <p:txBody>
          <a:bodyPr lIns="0" tIns="0" rIns="0" bIns="0" rtlCol="0" anchor="ctr"/>
          <a:lstStyle/>
          <a:p>
            <a:pPr indent="0" algn="l">
              <a:lnSpc>
                <a:spcPct val="150000"/>
              </a:lnSpc>
              <a:defRPr/>
            </a:pPr>
            <a:r>
              <a:rPr lang="en-US" sz="1751" b="0">
                <a:solidFill>
                  <a:srgbClr val="D9D9D9"/>
                </a:solidFill>
                <a:latin typeface="Poppins"/>
              </a:rPr>
              <a:t>Organizations gather far more personal information than necessary, creating large targets for breaches and increasing the scope of potential privacy violations.</a:t>
            </a:r>
            <a:endParaRPr lang="en-US" sz="1100"/>
          </a:p>
        </p:txBody>
      </p:sp>
      <p:sp>
        <p:nvSpPr>
          <p:cNvPr id="13" name="AutoShape 13"/>
          <p:cNvSpPr/>
          <p:nvPr/>
        </p:nvSpPr>
        <p:spPr>
          <a:xfrm>
            <a:off x="8254012" y="2045782"/>
            <a:ext cx="3433798" cy="4633449"/>
          </a:xfrm>
          <a:prstGeom prst="rect">
            <a:avLst/>
          </a:prstGeom>
          <a:solidFill>
            <a:srgbClr val="000000">
              <a:alpha val="0"/>
            </a:srgbClr>
          </a:solidFill>
          <a:ln w="13547">
            <a:solidFill>
              <a:srgbClr val="9F6700">
                <a:alpha val="78824"/>
              </a:srgbClr>
            </a:solidFill>
          </a:ln>
        </p:spPr>
      </p:sp>
      <p:sp>
        <p:nvSpPr>
          <p:cNvPr id="14" name="TextBox 14"/>
          <p:cNvSpPr txBox="1"/>
          <p:nvPr/>
        </p:nvSpPr>
        <p:spPr>
          <a:xfrm>
            <a:off x="8522637" y="2282854"/>
            <a:ext cx="2896536" cy="667282"/>
          </a:xfrm>
          <a:prstGeom prst="rect">
            <a:avLst/>
          </a:prstGeom>
          <a:solidFill>
            <a:srgbClr val="000000">
              <a:alpha val="0"/>
            </a:srgbClr>
          </a:solidFill>
        </p:spPr>
        <p:txBody>
          <a:bodyPr lIns="0" tIns="0" rIns="0" bIns="0" rtlCol="0" anchor="ctr"/>
          <a:lstStyle/>
          <a:p>
            <a:pPr indent="0" algn="l">
              <a:lnSpc>
                <a:spcPct val="120000"/>
              </a:lnSpc>
              <a:defRPr/>
            </a:pPr>
            <a:r>
              <a:rPr lang="en-US" sz="2189" b="1">
                <a:solidFill>
                  <a:srgbClr val="FF9A0C"/>
                </a:solidFill>
                <a:latin typeface="Belanosima"/>
              </a:rPr>
              <a:t>Dark-Pattern Consent</a:t>
            </a:r>
            <a:endParaRPr lang="en-US" sz="1100"/>
          </a:p>
        </p:txBody>
      </p:sp>
      <p:sp>
        <p:nvSpPr>
          <p:cNvPr id="15" name="TextBox 15"/>
          <p:cNvSpPr txBox="1"/>
          <p:nvPr/>
        </p:nvSpPr>
        <p:spPr>
          <a:xfrm>
            <a:off x="8522637" y="3105740"/>
            <a:ext cx="2896536" cy="3336409"/>
          </a:xfrm>
          <a:prstGeom prst="rect">
            <a:avLst/>
          </a:prstGeom>
          <a:solidFill>
            <a:srgbClr val="000000">
              <a:alpha val="0"/>
            </a:srgbClr>
          </a:solidFill>
        </p:spPr>
        <p:txBody>
          <a:bodyPr lIns="0" tIns="0" rIns="0" bIns="0" rtlCol="0" anchor="ctr"/>
          <a:lstStyle/>
          <a:p>
            <a:pPr indent="0" algn="l">
              <a:lnSpc>
                <a:spcPct val="150000"/>
              </a:lnSpc>
              <a:defRPr/>
            </a:pPr>
            <a:r>
              <a:rPr lang="en-US" sz="1751" b="0">
                <a:solidFill>
                  <a:srgbClr val="D9D9D9"/>
                </a:solidFill>
                <a:latin typeface="Poppins"/>
              </a:rPr>
              <a:t>Deceptive user interface designs and misleading consent mechanisms obscure true data usage practices, preventing users from making informed decisions about their information.</a:t>
            </a:r>
            <a:endParaRPr lang="en-US" sz="1100"/>
          </a:p>
        </p:txBody>
      </p:sp>
      <p:sp>
        <p:nvSpPr>
          <p:cNvPr id="16" name="AutoShape 16"/>
          <p:cNvSpPr/>
          <p:nvPr/>
        </p:nvSpPr>
        <p:spPr>
          <a:xfrm>
            <a:off x="11939841" y="2045782"/>
            <a:ext cx="3434047" cy="4633449"/>
          </a:xfrm>
          <a:prstGeom prst="rect">
            <a:avLst/>
          </a:prstGeom>
          <a:solidFill>
            <a:srgbClr val="000000">
              <a:alpha val="0"/>
            </a:srgbClr>
          </a:solidFill>
          <a:ln w="13547">
            <a:solidFill>
              <a:srgbClr val="9F6700">
                <a:alpha val="78824"/>
              </a:srgbClr>
            </a:solidFill>
          </a:ln>
        </p:spPr>
      </p:sp>
      <p:sp>
        <p:nvSpPr>
          <p:cNvPr id="17" name="TextBox 17"/>
          <p:cNvSpPr txBox="1"/>
          <p:nvPr/>
        </p:nvSpPr>
        <p:spPr>
          <a:xfrm>
            <a:off x="12208466" y="2282854"/>
            <a:ext cx="2896801" cy="333641"/>
          </a:xfrm>
          <a:prstGeom prst="rect">
            <a:avLst/>
          </a:prstGeom>
          <a:solidFill>
            <a:srgbClr val="000000">
              <a:alpha val="0"/>
            </a:srgbClr>
          </a:solidFill>
        </p:spPr>
        <p:txBody>
          <a:bodyPr lIns="0" tIns="0" rIns="0" bIns="0" rtlCol="0" anchor="ctr"/>
          <a:lstStyle/>
          <a:p>
            <a:pPr indent="0" algn="l">
              <a:lnSpc>
                <a:spcPct val="120000"/>
              </a:lnSpc>
              <a:defRPr/>
            </a:pPr>
            <a:r>
              <a:rPr lang="en-US" sz="2189" b="1">
                <a:solidFill>
                  <a:srgbClr val="FF9A0C"/>
                </a:solidFill>
                <a:latin typeface="Belanosima"/>
              </a:rPr>
              <a:t>Third-Party Tracking</a:t>
            </a:r>
            <a:endParaRPr lang="en-US" sz="1100"/>
          </a:p>
        </p:txBody>
      </p:sp>
      <p:sp>
        <p:nvSpPr>
          <p:cNvPr id="18" name="TextBox 18"/>
          <p:cNvSpPr txBox="1"/>
          <p:nvPr/>
        </p:nvSpPr>
        <p:spPr>
          <a:xfrm>
            <a:off x="12208466" y="2772102"/>
            <a:ext cx="2896801" cy="3670050"/>
          </a:xfrm>
          <a:prstGeom prst="rect">
            <a:avLst/>
          </a:prstGeom>
          <a:solidFill>
            <a:srgbClr val="000000">
              <a:alpha val="0"/>
            </a:srgbClr>
          </a:solidFill>
        </p:spPr>
        <p:txBody>
          <a:bodyPr lIns="0" tIns="0" rIns="0" bIns="0" rtlCol="0" anchor="ctr"/>
          <a:lstStyle/>
          <a:p>
            <a:pPr indent="0" algn="l">
              <a:lnSpc>
                <a:spcPct val="150000"/>
              </a:lnSpc>
              <a:defRPr/>
            </a:pPr>
            <a:r>
              <a:rPr lang="en-US" sz="1751" b="0">
                <a:solidFill>
                  <a:srgbClr val="D9D9D9"/>
                </a:solidFill>
                <a:latin typeface="Poppins"/>
              </a:rPr>
              <a:t>Embedded trackers from advertising networks and analytics vendors monitor user behavior across websites, creating comprehensive profiles without explicit user awareness or permission.</a:t>
            </a:r>
            <a:endParaRPr lang="en-US" sz="1100"/>
          </a:p>
        </p:txBody>
      </p:sp>
      <p:sp>
        <p:nvSpPr>
          <p:cNvPr id="19" name="AutoShape 19"/>
          <p:cNvSpPr/>
          <p:nvPr/>
        </p:nvSpPr>
        <p:spPr>
          <a:xfrm>
            <a:off x="882112" y="6901651"/>
            <a:ext cx="14491783" cy="1630680"/>
          </a:xfrm>
          <a:prstGeom prst="rect">
            <a:avLst/>
          </a:prstGeom>
          <a:solidFill>
            <a:srgbClr val="000000">
              <a:alpha val="0"/>
            </a:srgbClr>
          </a:solidFill>
          <a:ln w="13547">
            <a:solidFill>
              <a:srgbClr val="9F6700">
                <a:alpha val="78824"/>
              </a:srgbClr>
            </a:solidFill>
          </a:ln>
        </p:spPr>
      </p:sp>
      <p:sp>
        <p:nvSpPr>
          <p:cNvPr id="20" name="TextBox 20"/>
          <p:cNvSpPr txBox="1"/>
          <p:nvPr/>
        </p:nvSpPr>
        <p:spPr>
          <a:xfrm>
            <a:off x="1150736" y="7138723"/>
            <a:ext cx="13954537" cy="333641"/>
          </a:xfrm>
          <a:prstGeom prst="rect">
            <a:avLst/>
          </a:prstGeom>
          <a:solidFill>
            <a:srgbClr val="000000">
              <a:alpha val="0"/>
            </a:srgbClr>
          </a:solidFill>
        </p:spPr>
        <p:txBody>
          <a:bodyPr lIns="0" tIns="0" rIns="0" bIns="0" rtlCol="0" anchor="ctr"/>
          <a:lstStyle/>
          <a:p>
            <a:pPr indent="0" algn="l">
              <a:lnSpc>
                <a:spcPct val="120000"/>
              </a:lnSpc>
              <a:defRPr/>
            </a:pPr>
            <a:r>
              <a:rPr lang="en-US" sz="2189" b="1">
                <a:solidFill>
                  <a:srgbClr val="FF9A0C"/>
                </a:solidFill>
                <a:latin typeface="Belanosima"/>
              </a:rPr>
              <a:t>Insecure APIs &amp; Cloud Configs</a:t>
            </a:r>
            <a:endParaRPr lang="en-US" sz="1100"/>
          </a:p>
        </p:txBody>
      </p:sp>
      <p:sp>
        <p:nvSpPr>
          <p:cNvPr id="21" name="TextBox 21"/>
          <p:cNvSpPr txBox="1"/>
          <p:nvPr/>
        </p:nvSpPr>
        <p:spPr>
          <a:xfrm>
            <a:off x="1150736" y="7627971"/>
            <a:ext cx="13954537" cy="667282"/>
          </a:xfrm>
          <a:prstGeom prst="rect">
            <a:avLst/>
          </a:prstGeom>
          <a:solidFill>
            <a:srgbClr val="000000">
              <a:alpha val="0"/>
            </a:srgbClr>
          </a:solidFill>
        </p:spPr>
        <p:txBody>
          <a:bodyPr lIns="0" tIns="0" rIns="0" bIns="0" rtlCol="0" anchor="ctr"/>
          <a:lstStyle/>
          <a:p>
            <a:pPr indent="0" algn="l">
              <a:lnSpc>
                <a:spcPct val="150000"/>
              </a:lnSpc>
              <a:defRPr/>
            </a:pPr>
            <a:r>
              <a:rPr lang="en-US" sz="1751" b="0">
                <a:solidFill>
                  <a:srgbClr val="D9D9D9"/>
                </a:solidFill>
                <a:latin typeface="Poppins"/>
              </a:rPr>
              <a:t>Misconfigured cloud storage, unprotected API endpoints, and inadequate access controls create exploitable vulnerabilities that expose confidential user data to attackers.</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a:ln w="13547">
            <a:solidFill>
              <a:srgbClr val="B46F00"/>
            </a:solidFill>
          </a:ln>
        </p:spPr>
      </p:sp>
      <p:pic>
        <p:nvPicPr>
          <p:cNvPr id="3" name="Picture 3"/>
          <p:cNvPicPr>
            <a:picLocks noChangeAspect="1"/>
          </p:cNvPicPr>
          <p:nvPr/>
        </p:nvPicPr>
        <p:blipFill>
          <a:blip r:embed="rId3"/>
          <a:srcRect t="74" b="74"/>
          <a:stretch>
            <a:fillRect/>
          </a:stretch>
        </p:blipFill>
        <p:spPr>
          <a:xfrm>
            <a:off x="0" y="0"/>
            <a:ext cx="16256000" cy="9144000"/>
          </a:xfrm>
          <a:prstGeom prst="rect">
            <a:avLst/>
          </a:prstGeom>
        </p:spPr>
      </p:pic>
      <p:pic>
        <p:nvPicPr>
          <p:cNvPr id="4" name="Picture 4"/>
          <p:cNvPicPr>
            <a:picLocks noChangeAspect="1"/>
          </p:cNvPicPr>
          <p:nvPr/>
        </p:nvPicPr>
        <p:blipFill>
          <a:blip r:embed="rId4"/>
          <a:srcRect t="697" b="697"/>
          <a:stretch>
            <a:fillRect/>
          </a:stretch>
        </p:blipFill>
        <p:spPr>
          <a:xfrm>
            <a:off x="16591" y="16591"/>
            <a:ext cx="5185305" cy="9110816"/>
          </a:xfrm>
          <a:prstGeom prst="roundRect">
            <a:avLst>
              <a:gd name="adj" fmla="val 4860"/>
            </a:avLst>
          </a:prstGeom>
        </p:spPr>
      </p:pic>
      <p:sp>
        <p:nvSpPr>
          <p:cNvPr id="5" name="TextBox 5"/>
          <p:cNvSpPr txBox="1"/>
          <p:nvPr/>
        </p:nvSpPr>
        <p:spPr>
          <a:xfrm>
            <a:off x="6084004" y="1238382"/>
            <a:ext cx="9289630" cy="604674"/>
          </a:xfrm>
          <a:prstGeom prst="rect">
            <a:avLst/>
          </a:prstGeom>
          <a:solidFill>
            <a:srgbClr val="000000">
              <a:alpha val="0"/>
            </a:srgbClr>
          </a:solidFill>
        </p:spPr>
        <p:txBody>
          <a:bodyPr lIns="0" tIns="0" rIns="0" bIns="0" rtlCol="0" anchor="ctr"/>
          <a:lstStyle/>
          <a:p>
            <a:pPr indent="0" algn="l">
              <a:lnSpc>
                <a:spcPct val="120000"/>
              </a:lnSpc>
              <a:defRPr/>
            </a:pPr>
            <a:r>
              <a:rPr lang="en-US" sz="3968" b="1">
                <a:solidFill>
                  <a:srgbClr val="FF9D09"/>
                </a:solidFill>
                <a:latin typeface="Belanosima"/>
              </a:rPr>
              <a:t>Meta Pixel Healthcare Leak (2022)</a:t>
            </a:r>
            <a:endParaRPr lang="en-US" sz="1100"/>
          </a:p>
        </p:txBody>
      </p:sp>
      <p:sp>
        <p:nvSpPr>
          <p:cNvPr id="6" name="AutoShape 6"/>
          <p:cNvSpPr/>
          <p:nvPr/>
        </p:nvSpPr>
        <p:spPr>
          <a:xfrm>
            <a:off x="6084004" y="2126466"/>
            <a:ext cx="9289630" cy="5779148"/>
          </a:xfrm>
          <a:prstGeom prst="rect">
            <a:avLst/>
          </a:prstGeom>
          <a:solidFill>
            <a:srgbClr val="000000">
              <a:alpha val="0"/>
            </a:srgbClr>
          </a:solidFill>
        </p:spPr>
      </p:sp>
      <p:sp>
        <p:nvSpPr>
          <p:cNvPr id="7" name="AutoShape 7"/>
          <p:cNvSpPr/>
          <p:nvPr/>
        </p:nvSpPr>
        <p:spPr>
          <a:xfrm>
            <a:off x="6084004" y="2126466"/>
            <a:ext cx="2928429" cy="5779148"/>
          </a:xfrm>
          <a:prstGeom prst="rect">
            <a:avLst/>
          </a:prstGeom>
          <a:solidFill>
            <a:srgbClr val="33291B">
              <a:alpha val="71765"/>
            </a:srgbClr>
          </a:solidFill>
          <a:ln w="13547">
            <a:solidFill>
              <a:srgbClr val="9F6700">
                <a:alpha val="78824"/>
              </a:srgbClr>
            </a:solidFill>
          </a:ln>
        </p:spPr>
      </p:sp>
      <p:sp>
        <p:nvSpPr>
          <p:cNvPr id="8" name="TextBox 8"/>
          <p:cNvSpPr txBox="1"/>
          <p:nvPr/>
        </p:nvSpPr>
        <p:spPr>
          <a:xfrm>
            <a:off x="6352628" y="2267711"/>
            <a:ext cx="2391183" cy="907010"/>
          </a:xfrm>
          <a:prstGeom prst="rect">
            <a:avLst/>
          </a:prstGeom>
          <a:solidFill>
            <a:srgbClr val="000000">
              <a:alpha val="0"/>
            </a:srgbClr>
          </a:solidFill>
        </p:spPr>
        <p:txBody>
          <a:bodyPr lIns="0" tIns="0" rIns="0" bIns="0" rtlCol="0" anchor="ctr"/>
          <a:lstStyle/>
          <a:p>
            <a:pPr indent="0" algn="l">
              <a:lnSpc>
                <a:spcPct val="120000"/>
              </a:lnSpc>
              <a:defRPr/>
            </a:pPr>
            <a:r>
              <a:rPr lang="en-US" sz="2976" b="1" dirty="0">
                <a:solidFill>
                  <a:srgbClr val="FF9D09"/>
                </a:solidFill>
                <a:latin typeface="Belanosima"/>
              </a:rPr>
              <a:t>What Happened</a:t>
            </a:r>
            <a:endParaRPr lang="en-US" sz="1100" dirty="0"/>
          </a:p>
        </p:txBody>
      </p:sp>
      <p:sp>
        <p:nvSpPr>
          <p:cNvPr id="9" name="TextBox 9"/>
          <p:cNvSpPr txBox="1"/>
          <p:nvPr/>
        </p:nvSpPr>
        <p:spPr>
          <a:xfrm>
            <a:off x="6352628" y="3478423"/>
            <a:ext cx="2391183" cy="4158556"/>
          </a:xfrm>
          <a:prstGeom prst="rect">
            <a:avLst/>
          </a:prstGeom>
          <a:solidFill>
            <a:srgbClr val="000000">
              <a:alpha val="0"/>
            </a:srgbClr>
          </a:solidFill>
        </p:spPr>
        <p:txBody>
          <a:bodyPr lIns="0" tIns="0" rIns="0" bIns="0" rtlCol="0" anchor="ctr"/>
          <a:lstStyle/>
          <a:p>
            <a:pPr indent="0" algn="l">
              <a:lnSpc>
                <a:spcPct val="150000"/>
              </a:lnSpc>
              <a:defRPr/>
            </a:pPr>
            <a:r>
              <a:rPr lang="en-US" sz="1984" b="0" dirty="0">
                <a:solidFill>
                  <a:srgbClr val="D9D9D9"/>
                </a:solidFill>
                <a:latin typeface="Poppins"/>
              </a:rPr>
              <a:t>Meta's tracking pixel found on hospital websites sent patient data to Facebook, including appointment details, IP addresses, and medical conditions.</a:t>
            </a:r>
            <a:endParaRPr lang="en-US" sz="1100" dirty="0"/>
          </a:p>
        </p:txBody>
      </p:sp>
      <p:sp>
        <p:nvSpPr>
          <p:cNvPr id="10" name="AutoShape 10"/>
          <p:cNvSpPr/>
          <p:nvPr/>
        </p:nvSpPr>
        <p:spPr>
          <a:xfrm>
            <a:off x="9264473" y="2126466"/>
            <a:ext cx="2928429" cy="5779148"/>
          </a:xfrm>
          <a:prstGeom prst="rect">
            <a:avLst/>
          </a:prstGeom>
          <a:solidFill>
            <a:srgbClr val="33291B">
              <a:alpha val="71765"/>
            </a:srgbClr>
          </a:solidFill>
          <a:ln w="13547">
            <a:solidFill>
              <a:srgbClr val="9F6700">
                <a:alpha val="78824"/>
              </a:srgbClr>
            </a:solidFill>
          </a:ln>
        </p:spPr>
      </p:sp>
      <p:sp>
        <p:nvSpPr>
          <p:cNvPr id="11" name="TextBox 11"/>
          <p:cNvSpPr txBox="1"/>
          <p:nvPr/>
        </p:nvSpPr>
        <p:spPr>
          <a:xfrm>
            <a:off x="9513961" y="2240037"/>
            <a:ext cx="2391183" cy="907010"/>
          </a:xfrm>
          <a:prstGeom prst="rect">
            <a:avLst/>
          </a:prstGeom>
          <a:solidFill>
            <a:srgbClr val="000000">
              <a:alpha val="0"/>
            </a:srgbClr>
          </a:solidFill>
        </p:spPr>
        <p:txBody>
          <a:bodyPr lIns="0" tIns="0" rIns="0" bIns="0" rtlCol="0" anchor="ctr"/>
          <a:lstStyle/>
          <a:p>
            <a:pPr indent="0" algn="l">
              <a:lnSpc>
                <a:spcPct val="120000"/>
              </a:lnSpc>
              <a:defRPr/>
            </a:pPr>
            <a:r>
              <a:rPr lang="en-US" sz="2976" b="1" dirty="0">
                <a:solidFill>
                  <a:srgbClr val="FF9D09"/>
                </a:solidFill>
                <a:latin typeface="Belanosima"/>
              </a:rPr>
              <a:t>Computing Issues</a:t>
            </a:r>
            <a:endParaRPr lang="en-US" sz="1100" dirty="0"/>
          </a:p>
        </p:txBody>
      </p:sp>
      <p:sp>
        <p:nvSpPr>
          <p:cNvPr id="12" name="TextBox 12"/>
          <p:cNvSpPr txBox="1"/>
          <p:nvPr/>
        </p:nvSpPr>
        <p:spPr>
          <a:xfrm>
            <a:off x="9533098" y="3478423"/>
            <a:ext cx="2391183" cy="3402455"/>
          </a:xfrm>
          <a:prstGeom prst="rect">
            <a:avLst/>
          </a:prstGeom>
          <a:solidFill>
            <a:srgbClr val="000000">
              <a:alpha val="0"/>
            </a:srgbClr>
          </a:solidFill>
        </p:spPr>
        <p:txBody>
          <a:bodyPr lIns="0" tIns="0" rIns="0" bIns="0" rtlCol="0" anchor="ctr"/>
          <a:lstStyle/>
          <a:p>
            <a:pPr indent="0" algn="l">
              <a:lnSpc>
                <a:spcPct val="150000"/>
              </a:lnSpc>
              <a:defRPr/>
            </a:pPr>
            <a:r>
              <a:rPr lang="en-US" sz="1984" b="0">
                <a:solidFill>
                  <a:srgbClr val="D9D9D9"/>
                </a:solidFill>
                <a:latin typeface="Poppins"/>
              </a:rPr>
              <a:t>Misconfigured tracking scripts operated without user consent, violating HIPAA regulations and fundamental data protection principles.</a:t>
            </a:r>
            <a:endParaRPr lang="en-US" sz="1100"/>
          </a:p>
        </p:txBody>
      </p:sp>
      <p:sp>
        <p:nvSpPr>
          <p:cNvPr id="13" name="AutoShape 13"/>
          <p:cNvSpPr/>
          <p:nvPr/>
        </p:nvSpPr>
        <p:spPr>
          <a:xfrm>
            <a:off x="12444943" y="2126466"/>
            <a:ext cx="2928694" cy="5779148"/>
          </a:xfrm>
          <a:prstGeom prst="rect">
            <a:avLst/>
          </a:prstGeom>
          <a:solidFill>
            <a:srgbClr val="33291B">
              <a:alpha val="71765"/>
            </a:srgbClr>
          </a:solidFill>
          <a:ln w="13547">
            <a:solidFill>
              <a:srgbClr val="9F6700">
                <a:alpha val="78824"/>
              </a:srgbClr>
            </a:solidFill>
          </a:ln>
        </p:spPr>
      </p:sp>
      <p:sp>
        <p:nvSpPr>
          <p:cNvPr id="14" name="TextBox 14"/>
          <p:cNvSpPr txBox="1"/>
          <p:nvPr/>
        </p:nvSpPr>
        <p:spPr>
          <a:xfrm>
            <a:off x="12713567" y="2331195"/>
            <a:ext cx="2391448" cy="453505"/>
          </a:xfrm>
          <a:prstGeom prst="rect">
            <a:avLst/>
          </a:prstGeom>
          <a:solidFill>
            <a:srgbClr val="000000">
              <a:alpha val="0"/>
            </a:srgbClr>
          </a:solidFill>
        </p:spPr>
        <p:txBody>
          <a:bodyPr lIns="0" tIns="0" rIns="0" bIns="0" rtlCol="0" anchor="ctr"/>
          <a:lstStyle/>
          <a:p>
            <a:pPr indent="0" algn="l">
              <a:lnSpc>
                <a:spcPct val="120000"/>
              </a:lnSpc>
              <a:defRPr/>
            </a:pPr>
            <a:r>
              <a:rPr lang="en-US" sz="2976" b="1" dirty="0">
                <a:solidFill>
                  <a:srgbClr val="FF9D09"/>
                </a:solidFill>
                <a:latin typeface="Belanosima"/>
              </a:rPr>
              <a:t>Why It Matters</a:t>
            </a:r>
            <a:endParaRPr lang="en-US" sz="1100" dirty="0"/>
          </a:p>
        </p:txBody>
      </p:sp>
      <p:sp>
        <p:nvSpPr>
          <p:cNvPr id="15" name="TextBox 15"/>
          <p:cNvSpPr txBox="1"/>
          <p:nvPr/>
        </p:nvSpPr>
        <p:spPr>
          <a:xfrm>
            <a:off x="12713567" y="3024919"/>
            <a:ext cx="2391448" cy="3780505"/>
          </a:xfrm>
          <a:prstGeom prst="rect">
            <a:avLst/>
          </a:prstGeom>
          <a:solidFill>
            <a:srgbClr val="000000">
              <a:alpha val="0"/>
            </a:srgbClr>
          </a:solidFill>
        </p:spPr>
        <p:txBody>
          <a:bodyPr lIns="0" tIns="0" rIns="0" bIns="0" rtlCol="0" anchor="ctr"/>
          <a:lstStyle/>
          <a:p>
            <a:pPr indent="0" algn="l">
              <a:lnSpc>
                <a:spcPct val="150000"/>
              </a:lnSpc>
              <a:defRPr/>
            </a:pPr>
            <a:r>
              <a:rPr lang="en-US" sz="1984" b="0">
                <a:solidFill>
                  <a:srgbClr val="D9D9D9"/>
                </a:solidFill>
                <a:latin typeface="Poppins"/>
              </a:rPr>
              <a:t>A single embedded script caused a national privacy breach, exposing millions of patients and raising critical questions about healthcare data security.</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a:ln w="13547">
            <a:solidFill>
              <a:srgbClr val="B46F00"/>
            </a:solidFill>
          </a:ln>
        </p:spPr>
      </p:sp>
      <p:pic>
        <p:nvPicPr>
          <p:cNvPr id="3" name="Picture 3"/>
          <p:cNvPicPr>
            <a:picLocks noChangeAspect="1"/>
          </p:cNvPicPr>
          <p:nvPr/>
        </p:nvPicPr>
        <p:blipFill>
          <a:blip r:embed="rId3"/>
          <a:srcRect t="74" b="74"/>
          <a:stretch>
            <a:fillRect/>
          </a:stretch>
        </p:blipFill>
        <p:spPr>
          <a:xfrm>
            <a:off x="0" y="0"/>
            <a:ext cx="16256000" cy="9144000"/>
          </a:xfrm>
          <a:prstGeom prst="rect">
            <a:avLst/>
          </a:prstGeom>
        </p:spPr>
      </p:pic>
      <p:pic>
        <p:nvPicPr>
          <p:cNvPr id="4" name="Picture 4"/>
          <p:cNvPicPr>
            <a:picLocks noChangeAspect="1"/>
          </p:cNvPicPr>
          <p:nvPr/>
        </p:nvPicPr>
        <p:blipFill>
          <a:blip r:embed="rId4"/>
          <a:srcRect t="697" b="697"/>
          <a:stretch>
            <a:fillRect/>
          </a:stretch>
        </p:blipFill>
        <p:spPr>
          <a:xfrm>
            <a:off x="16591" y="16591"/>
            <a:ext cx="5185305" cy="9110816"/>
          </a:xfrm>
          <a:prstGeom prst="roundRect">
            <a:avLst>
              <a:gd name="adj" fmla="val 4860"/>
            </a:avLst>
          </a:prstGeom>
        </p:spPr>
      </p:pic>
      <p:sp>
        <p:nvSpPr>
          <p:cNvPr id="5" name="TextBox 5"/>
          <p:cNvSpPr txBox="1"/>
          <p:nvPr/>
        </p:nvSpPr>
        <p:spPr>
          <a:xfrm>
            <a:off x="6084004" y="1049358"/>
            <a:ext cx="9289630" cy="604674"/>
          </a:xfrm>
          <a:prstGeom prst="rect">
            <a:avLst/>
          </a:prstGeom>
          <a:solidFill>
            <a:srgbClr val="000000">
              <a:alpha val="0"/>
            </a:srgbClr>
          </a:solidFill>
        </p:spPr>
        <p:txBody>
          <a:bodyPr lIns="0" tIns="0" rIns="0" bIns="0" rtlCol="0" anchor="ctr"/>
          <a:lstStyle/>
          <a:p>
            <a:pPr indent="0" algn="l">
              <a:lnSpc>
                <a:spcPct val="120000"/>
              </a:lnSpc>
              <a:defRPr/>
            </a:pPr>
            <a:r>
              <a:rPr lang="en-US" sz="3968" b="1">
                <a:solidFill>
                  <a:srgbClr val="FF9D09"/>
                </a:solidFill>
                <a:latin typeface="Belanosima"/>
              </a:rPr>
              <a:t>Ring Doorbell Police Partnerships</a:t>
            </a:r>
            <a:endParaRPr lang="en-US" sz="1100"/>
          </a:p>
        </p:txBody>
      </p:sp>
      <p:sp>
        <p:nvSpPr>
          <p:cNvPr id="6" name="AutoShape 6"/>
          <p:cNvSpPr/>
          <p:nvPr/>
        </p:nvSpPr>
        <p:spPr>
          <a:xfrm>
            <a:off x="6084004" y="1937442"/>
            <a:ext cx="9289630" cy="6157199"/>
          </a:xfrm>
          <a:prstGeom prst="rect">
            <a:avLst/>
          </a:prstGeom>
          <a:solidFill>
            <a:srgbClr val="000000">
              <a:alpha val="0"/>
            </a:srgbClr>
          </a:solidFill>
        </p:spPr>
      </p:sp>
      <p:sp>
        <p:nvSpPr>
          <p:cNvPr id="7" name="AutoShape 7"/>
          <p:cNvSpPr/>
          <p:nvPr/>
        </p:nvSpPr>
        <p:spPr>
          <a:xfrm>
            <a:off x="6084004" y="1937442"/>
            <a:ext cx="2928429" cy="6157199"/>
          </a:xfrm>
          <a:prstGeom prst="rect">
            <a:avLst/>
          </a:prstGeom>
          <a:solidFill>
            <a:srgbClr val="33291B">
              <a:alpha val="71765"/>
            </a:srgbClr>
          </a:solidFill>
          <a:ln w="13547">
            <a:solidFill>
              <a:srgbClr val="9F6700">
                <a:alpha val="78824"/>
              </a:srgbClr>
            </a:solidFill>
          </a:ln>
        </p:spPr>
      </p:sp>
      <p:sp>
        <p:nvSpPr>
          <p:cNvPr id="8" name="TextBox 8"/>
          <p:cNvSpPr txBox="1"/>
          <p:nvPr/>
        </p:nvSpPr>
        <p:spPr>
          <a:xfrm>
            <a:off x="6352628" y="2206070"/>
            <a:ext cx="2391183" cy="907010"/>
          </a:xfrm>
          <a:prstGeom prst="rect">
            <a:avLst/>
          </a:prstGeom>
          <a:solidFill>
            <a:srgbClr val="000000">
              <a:alpha val="0"/>
            </a:srgbClr>
          </a:solidFill>
        </p:spPr>
        <p:txBody>
          <a:bodyPr lIns="0" tIns="0" rIns="0" bIns="0" rtlCol="0" anchor="ctr"/>
          <a:lstStyle/>
          <a:p>
            <a:pPr indent="0" algn="l">
              <a:lnSpc>
                <a:spcPct val="120000"/>
              </a:lnSpc>
              <a:defRPr/>
            </a:pPr>
            <a:r>
              <a:rPr lang="en-US" sz="2976" b="1">
                <a:solidFill>
                  <a:srgbClr val="FF9D09"/>
                </a:solidFill>
                <a:latin typeface="Belanosima"/>
              </a:rPr>
              <a:t>What Happened</a:t>
            </a:r>
            <a:endParaRPr lang="en-US" sz="1100"/>
          </a:p>
        </p:txBody>
      </p:sp>
      <p:sp>
        <p:nvSpPr>
          <p:cNvPr id="9" name="TextBox 9"/>
          <p:cNvSpPr txBox="1"/>
          <p:nvPr/>
        </p:nvSpPr>
        <p:spPr>
          <a:xfrm>
            <a:off x="6352628" y="3289399"/>
            <a:ext cx="2391183" cy="4536606"/>
          </a:xfrm>
          <a:prstGeom prst="rect">
            <a:avLst/>
          </a:prstGeom>
          <a:solidFill>
            <a:srgbClr val="000000">
              <a:alpha val="0"/>
            </a:srgbClr>
          </a:solidFill>
        </p:spPr>
        <p:txBody>
          <a:bodyPr lIns="0" tIns="0" rIns="0" bIns="0" rtlCol="0" anchor="ctr"/>
          <a:lstStyle/>
          <a:p>
            <a:pPr indent="0" algn="l">
              <a:lnSpc>
                <a:spcPct val="150000"/>
              </a:lnSpc>
              <a:defRPr/>
            </a:pPr>
            <a:r>
              <a:rPr lang="en-US" sz="1984" b="0">
                <a:solidFill>
                  <a:srgbClr val="D9D9D9"/>
                </a:solidFill>
                <a:latin typeface="Poppins"/>
              </a:rPr>
              <a:t>Ring partnered with 2,000+ police departments, allowing police to request footage directly from users. Critically, users were often unaware of how their data was being used and accessed.</a:t>
            </a:r>
            <a:endParaRPr lang="en-US" sz="1100"/>
          </a:p>
        </p:txBody>
      </p:sp>
      <p:sp>
        <p:nvSpPr>
          <p:cNvPr id="10" name="AutoShape 10"/>
          <p:cNvSpPr/>
          <p:nvPr/>
        </p:nvSpPr>
        <p:spPr>
          <a:xfrm>
            <a:off x="9264473" y="1937442"/>
            <a:ext cx="2928429" cy="6157199"/>
          </a:xfrm>
          <a:prstGeom prst="rect">
            <a:avLst/>
          </a:prstGeom>
          <a:solidFill>
            <a:srgbClr val="33291B">
              <a:alpha val="71765"/>
            </a:srgbClr>
          </a:solidFill>
          <a:ln w="13547">
            <a:solidFill>
              <a:srgbClr val="9F6700">
                <a:alpha val="78824"/>
              </a:srgbClr>
            </a:solidFill>
          </a:ln>
        </p:spPr>
      </p:sp>
      <p:sp>
        <p:nvSpPr>
          <p:cNvPr id="11" name="TextBox 11"/>
          <p:cNvSpPr txBox="1"/>
          <p:nvPr/>
        </p:nvSpPr>
        <p:spPr>
          <a:xfrm>
            <a:off x="9533098" y="2206070"/>
            <a:ext cx="2391183" cy="907010"/>
          </a:xfrm>
          <a:prstGeom prst="rect">
            <a:avLst/>
          </a:prstGeom>
          <a:solidFill>
            <a:srgbClr val="000000">
              <a:alpha val="0"/>
            </a:srgbClr>
          </a:solidFill>
        </p:spPr>
        <p:txBody>
          <a:bodyPr lIns="0" tIns="0" rIns="0" bIns="0" rtlCol="0" anchor="ctr"/>
          <a:lstStyle/>
          <a:p>
            <a:pPr indent="0" algn="l">
              <a:lnSpc>
                <a:spcPct val="120000"/>
              </a:lnSpc>
              <a:defRPr/>
            </a:pPr>
            <a:r>
              <a:rPr lang="en-US" sz="2976" b="1">
                <a:solidFill>
                  <a:srgbClr val="FF9D09"/>
                </a:solidFill>
                <a:latin typeface="Belanosima"/>
              </a:rPr>
              <a:t>Computing Issues</a:t>
            </a:r>
            <a:endParaRPr lang="en-US" sz="1100"/>
          </a:p>
        </p:txBody>
      </p:sp>
      <p:sp>
        <p:nvSpPr>
          <p:cNvPr id="12" name="TextBox 12"/>
          <p:cNvSpPr txBox="1"/>
          <p:nvPr/>
        </p:nvSpPr>
        <p:spPr>
          <a:xfrm>
            <a:off x="9533098" y="3289399"/>
            <a:ext cx="2391183" cy="4536606"/>
          </a:xfrm>
          <a:prstGeom prst="rect">
            <a:avLst/>
          </a:prstGeom>
          <a:solidFill>
            <a:srgbClr val="000000">
              <a:alpha val="0"/>
            </a:srgbClr>
          </a:solidFill>
        </p:spPr>
        <p:txBody>
          <a:bodyPr lIns="0" tIns="0" rIns="0" bIns="0" rtlCol="0" anchor="ctr"/>
          <a:lstStyle/>
          <a:p>
            <a:pPr indent="0" algn="l">
              <a:lnSpc>
                <a:spcPct val="150000"/>
              </a:lnSpc>
              <a:defRPr/>
            </a:pPr>
            <a:r>
              <a:rPr lang="en-US" sz="1984" b="0">
                <a:solidFill>
                  <a:srgbClr val="D9D9D9"/>
                </a:solidFill>
                <a:latin typeface="Poppins"/>
              </a:rPr>
              <a:t>Surveillance creep enabled by widespread camera networks, cloud storage risks from centralized data, and weak access controls allowing unauthorized data access by law enforcement.</a:t>
            </a:r>
            <a:endParaRPr lang="en-US" sz="1100"/>
          </a:p>
        </p:txBody>
      </p:sp>
      <p:sp>
        <p:nvSpPr>
          <p:cNvPr id="13" name="AutoShape 13"/>
          <p:cNvSpPr/>
          <p:nvPr/>
        </p:nvSpPr>
        <p:spPr>
          <a:xfrm>
            <a:off x="12444943" y="1937442"/>
            <a:ext cx="2928694" cy="6157199"/>
          </a:xfrm>
          <a:prstGeom prst="rect">
            <a:avLst/>
          </a:prstGeom>
          <a:solidFill>
            <a:srgbClr val="33291B">
              <a:alpha val="71765"/>
            </a:srgbClr>
          </a:solidFill>
          <a:ln w="13547">
            <a:solidFill>
              <a:srgbClr val="9F6700">
                <a:alpha val="78824"/>
              </a:srgbClr>
            </a:solidFill>
          </a:ln>
        </p:spPr>
      </p:sp>
      <p:sp>
        <p:nvSpPr>
          <p:cNvPr id="14" name="TextBox 14"/>
          <p:cNvSpPr txBox="1"/>
          <p:nvPr/>
        </p:nvSpPr>
        <p:spPr>
          <a:xfrm>
            <a:off x="12713567" y="2206070"/>
            <a:ext cx="2391448" cy="453505"/>
          </a:xfrm>
          <a:prstGeom prst="rect">
            <a:avLst/>
          </a:prstGeom>
          <a:solidFill>
            <a:srgbClr val="000000">
              <a:alpha val="0"/>
            </a:srgbClr>
          </a:solidFill>
        </p:spPr>
        <p:txBody>
          <a:bodyPr lIns="0" tIns="0" rIns="0" bIns="0" rtlCol="0" anchor="ctr"/>
          <a:lstStyle/>
          <a:p>
            <a:pPr indent="0" algn="l">
              <a:lnSpc>
                <a:spcPct val="120000"/>
              </a:lnSpc>
              <a:defRPr/>
            </a:pPr>
            <a:r>
              <a:rPr lang="en-US" sz="2976" b="1">
                <a:solidFill>
                  <a:srgbClr val="FF9D09"/>
                </a:solidFill>
                <a:latin typeface="Belanosima"/>
              </a:rPr>
              <a:t>Why It Matters</a:t>
            </a:r>
            <a:endParaRPr lang="en-US" sz="1100"/>
          </a:p>
        </p:txBody>
      </p:sp>
      <p:sp>
        <p:nvSpPr>
          <p:cNvPr id="15" name="TextBox 15"/>
          <p:cNvSpPr txBox="1"/>
          <p:nvPr/>
        </p:nvSpPr>
        <p:spPr>
          <a:xfrm>
            <a:off x="12713567" y="2835896"/>
            <a:ext cx="2391448" cy="4536606"/>
          </a:xfrm>
          <a:prstGeom prst="rect">
            <a:avLst/>
          </a:prstGeom>
          <a:solidFill>
            <a:srgbClr val="000000">
              <a:alpha val="0"/>
            </a:srgbClr>
          </a:solidFill>
        </p:spPr>
        <p:txBody>
          <a:bodyPr lIns="0" tIns="0" rIns="0" bIns="0" rtlCol="0" anchor="ctr"/>
          <a:lstStyle/>
          <a:p>
            <a:pPr indent="0" algn="l">
              <a:lnSpc>
                <a:spcPct val="150000"/>
              </a:lnSpc>
              <a:defRPr/>
            </a:pPr>
            <a:r>
              <a:rPr lang="en-US" sz="1984" b="0">
                <a:solidFill>
                  <a:srgbClr val="D9D9D9"/>
                </a:solidFill>
                <a:latin typeface="Poppins"/>
              </a:rPr>
              <a:t>Consumer technology designed for home security was transformed into surveillance infrastructure, blurring the line between personal privacy and public monitoring systems.</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a:ln w="13547">
            <a:solidFill>
              <a:srgbClr val="B46F00"/>
            </a:solidFill>
          </a:ln>
        </p:spPr>
      </p:sp>
      <p:pic>
        <p:nvPicPr>
          <p:cNvPr id="3" name="Picture 3"/>
          <p:cNvPicPr>
            <a:picLocks noChangeAspect="1"/>
          </p:cNvPicPr>
          <p:nvPr/>
        </p:nvPicPr>
        <p:blipFill>
          <a:blip r:embed="rId3"/>
          <a:srcRect t="74" b="74"/>
          <a:stretch>
            <a:fillRect/>
          </a:stretch>
        </p:blipFill>
        <p:spPr>
          <a:xfrm>
            <a:off x="0" y="0"/>
            <a:ext cx="16256000" cy="9144000"/>
          </a:xfrm>
          <a:prstGeom prst="rect">
            <a:avLst/>
          </a:prstGeom>
        </p:spPr>
      </p:pic>
      <p:sp>
        <p:nvSpPr>
          <p:cNvPr id="4" name="TextBox 4"/>
          <p:cNvSpPr txBox="1"/>
          <p:nvPr/>
        </p:nvSpPr>
        <p:spPr>
          <a:xfrm>
            <a:off x="882112" y="583295"/>
            <a:ext cx="14491783" cy="508886"/>
          </a:xfrm>
          <a:prstGeom prst="rect">
            <a:avLst/>
          </a:prstGeom>
          <a:solidFill>
            <a:srgbClr val="000000">
              <a:alpha val="0"/>
            </a:srgbClr>
          </a:solidFill>
        </p:spPr>
        <p:txBody>
          <a:bodyPr lIns="0" tIns="0" rIns="0" bIns="0" rtlCol="0" anchor="ctr"/>
          <a:lstStyle/>
          <a:p>
            <a:pPr indent="0" algn="l">
              <a:lnSpc>
                <a:spcPct val="120000"/>
              </a:lnSpc>
              <a:defRPr/>
            </a:pPr>
            <a:r>
              <a:rPr lang="en-US" sz="3340" b="1">
                <a:solidFill>
                  <a:srgbClr val="FF9D09"/>
                </a:solidFill>
                <a:latin typeface="Belanosima"/>
              </a:rPr>
              <a:t>Real-World Computing Problems</a:t>
            </a:r>
            <a:endParaRPr lang="en-US" sz="1100"/>
          </a:p>
        </p:txBody>
      </p:sp>
      <p:sp>
        <p:nvSpPr>
          <p:cNvPr id="5" name="TextBox 5"/>
          <p:cNvSpPr txBox="1"/>
          <p:nvPr/>
        </p:nvSpPr>
        <p:spPr>
          <a:xfrm>
            <a:off x="882112" y="1330695"/>
            <a:ext cx="14491783" cy="381664"/>
          </a:xfrm>
          <a:prstGeom prst="rect">
            <a:avLst/>
          </a:prstGeom>
          <a:solidFill>
            <a:srgbClr val="000000">
              <a:alpha val="0"/>
            </a:srgbClr>
          </a:solidFill>
        </p:spPr>
        <p:txBody>
          <a:bodyPr lIns="0" tIns="0" rIns="0" bIns="0" rtlCol="0" anchor="ctr"/>
          <a:lstStyle/>
          <a:p>
            <a:pPr indent="0" algn="l">
              <a:lnSpc>
                <a:spcPct val="120000"/>
              </a:lnSpc>
              <a:defRPr/>
            </a:pPr>
            <a:r>
              <a:rPr lang="en-US" sz="2505" b="1">
                <a:solidFill>
                  <a:srgbClr val="FF9D09"/>
                </a:solidFill>
                <a:latin typeface="Belanosima"/>
              </a:rPr>
              <a:t>Privacy Fails Because Systems Fail</a:t>
            </a:r>
            <a:endParaRPr lang="en-US" sz="1100"/>
          </a:p>
        </p:txBody>
      </p:sp>
      <p:sp>
        <p:nvSpPr>
          <p:cNvPr id="6" name="AutoShape 6"/>
          <p:cNvSpPr/>
          <p:nvPr/>
        </p:nvSpPr>
        <p:spPr>
          <a:xfrm>
            <a:off x="882112" y="1950872"/>
            <a:ext cx="14491783" cy="6609830"/>
          </a:xfrm>
          <a:prstGeom prst="rect">
            <a:avLst/>
          </a:prstGeom>
          <a:solidFill>
            <a:srgbClr val="000000">
              <a:alpha val="0"/>
            </a:srgbClr>
          </a:solidFill>
        </p:spPr>
      </p:sp>
      <p:sp>
        <p:nvSpPr>
          <p:cNvPr id="7" name="AutoShape 7"/>
          <p:cNvSpPr/>
          <p:nvPr/>
        </p:nvSpPr>
        <p:spPr>
          <a:xfrm>
            <a:off x="882112" y="1950872"/>
            <a:ext cx="4662574" cy="3676111"/>
          </a:xfrm>
          <a:prstGeom prst="rect">
            <a:avLst/>
          </a:prstGeom>
          <a:solidFill>
            <a:srgbClr val="33291B">
              <a:alpha val="71765"/>
            </a:srgbClr>
          </a:solidFill>
          <a:ln w="13547">
            <a:solidFill>
              <a:srgbClr val="9F6700">
                <a:alpha val="78824"/>
              </a:srgbClr>
            </a:solidFill>
          </a:ln>
        </p:spPr>
      </p:sp>
      <p:sp>
        <p:nvSpPr>
          <p:cNvPr id="8" name="AutoShape 8"/>
          <p:cNvSpPr/>
          <p:nvPr/>
        </p:nvSpPr>
        <p:spPr>
          <a:xfrm>
            <a:off x="1210620" y="2176946"/>
            <a:ext cx="636325" cy="636325"/>
          </a:xfrm>
          <a:prstGeom prst="roundRect">
            <a:avLst>
              <a:gd name="adj" fmla="val 50000"/>
            </a:avLst>
          </a:prstGeom>
          <a:solidFill>
            <a:srgbClr val="BE7208"/>
          </a:solidFill>
        </p:spPr>
      </p:sp>
      <p:pic>
        <p:nvPicPr>
          <p:cNvPr id="9" name="Picture 9"/>
          <p:cNvPicPr>
            <a:picLocks noChangeAspect="1"/>
          </p:cNvPicPr>
          <p:nvPr/>
        </p:nvPicPr>
        <p:blipFill>
          <a:blip r:embed="rId4"/>
          <a:stretch>
            <a:fillRect/>
          </a:stretch>
        </p:blipFill>
        <p:spPr>
          <a:xfrm>
            <a:off x="1422603" y="2389050"/>
            <a:ext cx="212108" cy="212108"/>
          </a:xfrm>
          <a:prstGeom prst="rect">
            <a:avLst/>
          </a:prstGeom>
        </p:spPr>
      </p:pic>
      <p:sp>
        <p:nvSpPr>
          <p:cNvPr id="10" name="TextBox 10"/>
          <p:cNvSpPr txBox="1"/>
          <p:nvPr/>
        </p:nvSpPr>
        <p:spPr>
          <a:xfrm>
            <a:off x="1150736" y="3025376"/>
            <a:ext cx="4125328" cy="318162"/>
          </a:xfrm>
          <a:prstGeom prst="rect">
            <a:avLst/>
          </a:prstGeom>
          <a:solidFill>
            <a:srgbClr val="000000">
              <a:alpha val="0"/>
            </a:srgbClr>
          </a:solidFill>
        </p:spPr>
        <p:txBody>
          <a:bodyPr lIns="0" tIns="0" rIns="0" bIns="0" rtlCol="0" anchor="ctr"/>
          <a:lstStyle/>
          <a:p>
            <a:pPr indent="0" algn="l">
              <a:lnSpc>
                <a:spcPct val="120000"/>
              </a:lnSpc>
              <a:defRPr/>
            </a:pPr>
            <a:r>
              <a:rPr lang="en-US" sz="2087" b="1">
                <a:solidFill>
                  <a:srgbClr val="FF9A0C"/>
                </a:solidFill>
                <a:latin typeface="Belanosima"/>
              </a:rPr>
              <a:t>Unencrypted Data Transfers</a:t>
            </a:r>
            <a:endParaRPr lang="en-US" sz="1100"/>
          </a:p>
        </p:txBody>
      </p:sp>
      <p:sp>
        <p:nvSpPr>
          <p:cNvPr id="11" name="TextBox 11"/>
          <p:cNvSpPr txBox="1"/>
          <p:nvPr/>
        </p:nvSpPr>
        <p:spPr>
          <a:xfrm>
            <a:off x="1150736" y="3491927"/>
            <a:ext cx="4125328" cy="1590812"/>
          </a:xfrm>
          <a:prstGeom prst="rect">
            <a:avLst/>
          </a:prstGeom>
          <a:solidFill>
            <a:srgbClr val="000000">
              <a:alpha val="0"/>
            </a:srgbClr>
          </a:solidFill>
        </p:spPr>
        <p:txBody>
          <a:bodyPr lIns="0" tIns="0" rIns="0" bIns="0" rtlCol="0" anchor="ctr"/>
          <a:lstStyle/>
          <a:p>
            <a:pPr indent="0" algn="l">
              <a:lnSpc>
                <a:spcPct val="150000"/>
              </a:lnSpc>
              <a:defRPr/>
            </a:pPr>
            <a:r>
              <a:rPr lang="en-US" sz="1670" b="0">
                <a:solidFill>
                  <a:srgbClr val="D9D9D9"/>
                </a:solidFill>
                <a:latin typeface="Poppins"/>
              </a:rPr>
              <a:t>Data transmitted without encryption protocols, exposing sensitive information to interception during transit across networks and systems.</a:t>
            </a:r>
            <a:endParaRPr lang="en-US" sz="1100"/>
          </a:p>
        </p:txBody>
      </p:sp>
      <p:sp>
        <p:nvSpPr>
          <p:cNvPr id="12" name="AutoShape 12"/>
          <p:cNvSpPr/>
          <p:nvPr/>
        </p:nvSpPr>
        <p:spPr>
          <a:xfrm>
            <a:off x="5796722" y="1950872"/>
            <a:ext cx="4662574" cy="3676111"/>
          </a:xfrm>
          <a:prstGeom prst="rect">
            <a:avLst/>
          </a:prstGeom>
          <a:solidFill>
            <a:srgbClr val="33291B">
              <a:alpha val="71765"/>
            </a:srgbClr>
          </a:solidFill>
          <a:ln w="13547">
            <a:solidFill>
              <a:srgbClr val="9F6700">
                <a:alpha val="78824"/>
              </a:srgbClr>
            </a:solidFill>
          </a:ln>
        </p:spPr>
      </p:sp>
      <p:sp>
        <p:nvSpPr>
          <p:cNvPr id="13" name="AutoShape 13"/>
          <p:cNvSpPr/>
          <p:nvPr/>
        </p:nvSpPr>
        <p:spPr>
          <a:xfrm>
            <a:off x="6125231" y="2176946"/>
            <a:ext cx="636325" cy="636325"/>
          </a:xfrm>
          <a:prstGeom prst="roundRect">
            <a:avLst>
              <a:gd name="adj" fmla="val 50000"/>
            </a:avLst>
          </a:prstGeom>
          <a:solidFill>
            <a:srgbClr val="BE7208"/>
          </a:solidFill>
        </p:spPr>
      </p:sp>
      <p:pic>
        <p:nvPicPr>
          <p:cNvPr id="14" name="Picture 14"/>
          <p:cNvPicPr>
            <a:picLocks noChangeAspect="1"/>
          </p:cNvPicPr>
          <p:nvPr/>
        </p:nvPicPr>
        <p:blipFill>
          <a:blip r:embed="rId5"/>
          <a:stretch>
            <a:fillRect/>
          </a:stretch>
        </p:blipFill>
        <p:spPr>
          <a:xfrm>
            <a:off x="6348739" y="2400593"/>
            <a:ext cx="189023" cy="189023"/>
          </a:xfrm>
          <a:prstGeom prst="rect">
            <a:avLst/>
          </a:prstGeom>
        </p:spPr>
      </p:pic>
      <p:sp>
        <p:nvSpPr>
          <p:cNvPr id="15" name="TextBox 15"/>
          <p:cNvSpPr txBox="1"/>
          <p:nvPr/>
        </p:nvSpPr>
        <p:spPr>
          <a:xfrm>
            <a:off x="6065347" y="3025376"/>
            <a:ext cx="4125328" cy="318162"/>
          </a:xfrm>
          <a:prstGeom prst="rect">
            <a:avLst/>
          </a:prstGeom>
          <a:solidFill>
            <a:srgbClr val="000000">
              <a:alpha val="0"/>
            </a:srgbClr>
          </a:solidFill>
        </p:spPr>
        <p:txBody>
          <a:bodyPr lIns="0" tIns="0" rIns="0" bIns="0" rtlCol="0" anchor="ctr"/>
          <a:lstStyle/>
          <a:p>
            <a:pPr indent="0" algn="l">
              <a:lnSpc>
                <a:spcPct val="120000"/>
              </a:lnSpc>
              <a:defRPr/>
            </a:pPr>
            <a:r>
              <a:rPr lang="en-US" sz="2087" b="1">
                <a:solidFill>
                  <a:srgbClr val="FF9A0C"/>
                </a:solidFill>
                <a:latin typeface="Belanosima"/>
              </a:rPr>
              <a:t>APIs Exposing Sensitive Info</a:t>
            </a:r>
            <a:endParaRPr lang="en-US" sz="1100"/>
          </a:p>
        </p:txBody>
      </p:sp>
      <p:sp>
        <p:nvSpPr>
          <p:cNvPr id="16" name="TextBox 16"/>
          <p:cNvSpPr txBox="1"/>
          <p:nvPr/>
        </p:nvSpPr>
        <p:spPr>
          <a:xfrm>
            <a:off x="6065347" y="3491927"/>
            <a:ext cx="4125328" cy="1908974"/>
          </a:xfrm>
          <a:prstGeom prst="rect">
            <a:avLst/>
          </a:prstGeom>
          <a:solidFill>
            <a:srgbClr val="000000">
              <a:alpha val="0"/>
            </a:srgbClr>
          </a:solidFill>
        </p:spPr>
        <p:txBody>
          <a:bodyPr lIns="0" tIns="0" rIns="0" bIns="0" rtlCol="0" anchor="ctr"/>
          <a:lstStyle/>
          <a:p>
            <a:pPr indent="0" algn="l">
              <a:lnSpc>
                <a:spcPct val="150000"/>
              </a:lnSpc>
              <a:defRPr/>
            </a:pPr>
            <a:r>
              <a:rPr lang="en-US" sz="1670" b="0">
                <a:solidFill>
                  <a:srgbClr val="D9D9D9"/>
                </a:solidFill>
                <a:latin typeface="Poppins"/>
              </a:rPr>
              <a:t>Application programming interfaces inadvertently leaking personal and confidential data through poorly secured endpoints and inadequate access controls.</a:t>
            </a:r>
            <a:endParaRPr lang="en-US" sz="1100"/>
          </a:p>
        </p:txBody>
      </p:sp>
      <p:sp>
        <p:nvSpPr>
          <p:cNvPr id="17" name="AutoShape 17"/>
          <p:cNvSpPr/>
          <p:nvPr/>
        </p:nvSpPr>
        <p:spPr>
          <a:xfrm>
            <a:off x="10711318" y="1950872"/>
            <a:ext cx="4662574" cy="3676111"/>
          </a:xfrm>
          <a:prstGeom prst="rect">
            <a:avLst/>
          </a:prstGeom>
          <a:solidFill>
            <a:srgbClr val="33291B">
              <a:alpha val="71765"/>
            </a:srgbClr>
          </a:solidFill>
          <a:ln w="13547">
            <a:solidFill>
              <a:srgbClr val="9F6700">
                <a:alpha val="78824"/>
              </a:srgbClr>
            </a:solidFill>
          </a:ln>
        </p:spPr>
      </p:sp>
      <p:sp>
        <p:nvSpPr>
          <p:cNvPr id="18" name="AutoShape 18"/>
          <p:cNvSpPr/>
          <p:nvPr/>
        </p:nvSpPr>
        <p:spPr>
          <a:xfrm>
            <a:off x="11039827" y="2176946"/>
            <a:ext cx="636325" cy="636325"/>
          </a:xfrm>
          <a:prstGeom prst="roundRect">
            <a:avLst>
              <a:gd name="adj" fmla="val 50000"/>
            </a:avLst>
          </a:prstGeom>
          <a:solidFill>
            <a:srgbClr val="BE7208"/>
          </a:solidFill>
        </p:spPr>
      </p:sp>
      <p:pic>
        <p:nvPicPr>
          <p:cNvPr id="19" name="Picture 19"/>
          <p:cNvPicPr>
            <a:picLocks noChangeAspect="1"/>
          </p:cNvPicPr>
          <p:nvPr/>
        </p:nvPicPr>
        <p:blipFill>
          <a:blip r:embed="rId6"/>
          <a:stretch>
            <a:fillRect/>
          </a:stretch>
        </p:blipFill>
        <p:spPr>
          <a:xfrm>
            <a:off x="11251808" y="2389050"/>
            <a:ext cx="212108" cy="212108"/>
          </a:xfrm>
          <a:prstGeom prst="rect">
            <a:avLst/>
          </a:prstGeom>
        </p:spPr>
      </p:pic>
      <p:sp>
        <p:nvSpPr>
          <p:cNvPr id="20" name="TextBox 20"/>
          <p:cNvSpPr txBox="1"/>
          <p:nvPr/>
        </p:nvSpPr>
        <p:spPr>
          <a:xfrm>
            <a:off x="10979942" y="3025376"/>
            <a:ext cx="4125328" cy="318162"/>
          </a:xfrm>
          <a:prstGeom prst="rect">
            <a:avLst/>
          </a:prstGeom>
          <a:solidFill>
            <a:srgbClr val="000000">
              <a:alpha val="0"/>
            </a:srgbClr>
          </a:solidFill>
        </p:spPr>
        <p:txBody>
          <a:bodyPr lIns="0" tIns="0" rIns="0" bIns="0" rtlCol="0" anchor="ctr"/>
          <a:lstStyle/>
          <a:p>
            <a:pPr indent="0" algn="l">
              <a:lnSpc>
                <a:spcPct val="120000"/>
              </a:lnSpc>
              <a:defRPr/>
            </a:pPr>
            <a:r>
              <a:rPr lang="en-US" sz="2087" b="1">
                <a:solidFill>
                  <a:srgbClr val="FF9A0C"/>
                </a:solidFill>
                <a:latin typeface="Belanosima"/>
              </a:rPr>
              <a:t>Indefinite Data Retention</a:t>
            </a:r>
            <a:endParaRPr lang="en-US" sz="1100"/>
          </a:p>
        </p:txBody>
      </p:sp>
      <p:sp>
        <p:nvSpPr>
          <p:cNvPr id="21" name="TextBox 21"/>
          <p:cNvSpPr txBox="1"/>
          <p:nvPr/>
        </p:nvSpPr>
        <p:spPr>
          <a:xfrm>
            <a:off x="10979942" y="3491927"/>
            <a:ext cx="4125328" cy="1590812"/>
          </a:xfrm>
          <a:prstGeom prst="rect">
            <a:avLst/>
          </a:prstGeom>
          <a:solidFill>
            <a:srgbClr val="000000">
              <a:alpha val="0"/>
            </a:srgbClr>
          </a:solidFill>
        </p:spPr>
        <p:txBody>
          <a:bodyPr lIns="0" tIns="0" rIns="0" bIns="0" rtlCol="0" anchor="ctr"/>
          <a:lstStyle/>
          <a:p>
            <a:pPr indent="0" algn="l">
              <a:lnSpc>
                <a:spcPct val="150000"/>
              </a:lnSpc>
              <a:defRPr/>
            </a:pPr>
            <a:r>
              <a:rPr lang="en-US" sz="1670" b="0">
                <a:solidFill>
                  <a:srgbClr val="D9D9D9"/>
                </a:solidFill>
                <a:latin typeface="Poppins"/>
              </a:rPr>
              <a:t>Organizations storing user data indefinitely without clear deletion policies, increasing exposure window and regulatory compliance risks over time.</a:t>
            </a:r>
            <a:endParaRPr lang="en-US" sz="1100"/>
          </a:p>
        </p:txBody>
      </p:sp>
      <p:sp>
        <p:nvSpPr>
          <p:cNvPr id="22" name="AutoShape 22"/>
          <p:cNvSpPr/>
          <p:nvPr/>
        </p:nvSpPr>
        <p:spPr>
          <a:xfrm>
            <a:off x="882112" y="5839082"/>
            <a:ext cx="7119876" cy="2721624"/>
          </a:xfrm>
          <a:prstGeom prst="rect">
            <a:avLst/>
          </a:prstGeom>
          <a:solidFill>
            <a:srgbClr val="33291B">
              <a:alpha val="71765"/>
            </a:srgbClr>
          </a:solidFill>
          <a:ln w="13547">
            <a:solidFill>
              <a:srgbClr val="9F6700">
                <a:alpha val="78824"/>
              </a:srgbClr>
            </a:solidFill>
          </a:ln>
        </p:spPr>
      </p:sp>
      <p:sp>
        <p:nvSpPr>
          <p:cNvPr id="23" name="AutoShape 23"/>
          <p:cNvSpPr/>
          <p:nvPr/>
        </p:nvSpPr>
        <p:spPr>
          <a:xfrm>
            <a:off x="1210620" y="6065162"/>
            <a:ext cx="636325" cy="636325"/>
          </a:xfrm>
          <a:prstGeom prst="roundRect">
            <a:avLst>
              <a:gd name="adj" fmla="val 50000"/>
            </a:avLst>
          </a:prstGeom>
          <a:solidFill>
            <a:srgbClr val="BE7208"/>
          </a:solidFill>
        </p:spPr>
      </p:sp>
      <p:pic>
        <p:nvPicPr>
          <p:cNvPr id="24" name="Picture 24"/>
          <p:cNvPicPr>
            <a:picLocks noChangeAspect="1"/>
          </p:cNvPicPr>
          <p:nvPr/>
        </p:nvPicPr>
        <p:blipFill>
          <a:blip r:embed="rId7"/>
          <a:stretch>
            <a:fillRect/>
          </a:stretch>
        </p:blipFill>
        <p:spPr>
          <a:xfrm>
            <a:off x="1422603" y="6277267"/>
            <a:ext cx="212108" cy="212108"/>
          </a:xfrm>
          <a:prstGeom prst="rect">
            <a:avLst/>
          </a:prstGeom>
        </p:spPr>
      </p:pic>
      <p:sp>
        <p:nvSpPr>
          <p:cNvPr id="25" name="TextBox 25"/>
          <p:cNvSpPr txBox="1"/>
          <p:nvPr/>
        </p:nvSpPr>
        <p:spPr>
          <a:xfrm>
            <a:off x="1150736" y="6913593"/>
            <a:ext cx="6582630" cy="318162"/>
          </a:xfrm>
          <a:prstGeom prst="rect">
            <a:avLst/>
          </a:prstGeom>
          <a:solidFill>
            <a:srgbClr val="000000">
              <a:alpha val="0"/>
            </a:srgbClr>
          </a:solidFill>
        </p:spPr>
        <p:txBody>
          <a:bodyPr lIns="0" tIns="0" rIns="0" bIns="0" rtlCol="0" anchor="ctr"/>
          <a:lstStyle/>
          <a:p>
            <a:pPr indent="0" algn="l">
              <a:lnSpc>
                <a:spcPct val="120000"/>
              </a:lnSpc>
              <a:defRPr/>
            </a:pPr>
            <a:r>
              <a:rPr lang="en-US" sz="2087" b="1">
                <a:solidFill>
                  <a:srgbClr val="FF9A0C"/>
                </a:solidFill>
                <a:latin typeface="Belanosima"/>
              </a:rPr>
              <a:t>Third-Party Trackers Everywhere</a:t>
            </a:r>
            <a:endParaRPr lang="en-US" sz="1100"/>
          </a:p>
        </p:txBody>
      </p:sp>
      <p:sp>
        <p:nvSpPr>
          <p:cNvPr id="26" name="TextBox 26"/>
          <p:cNvSpPr txBox="1"/>
          <p:nvPr/>
        </p:nvSpPr>
        <p:spPr>
          <a:xfrm>
            <a:off x="1150736" y="7380143"/>
            <a:ext cx="6582630" cy="954487"/>
          </a:xfrm>
          <a:prstGeom prst="rect">
            <a:avLst/>
          </a:prstGeom>
          <a:solidFill>
            <a:srgbClr val="000000">
              <a:alpha val="0"/>
            </a:srgbClr>
          </a:solidFill>
        </p:spPr>
        <p:txBody>
          <a:bodyPr lIns="0" tIns="0" rIns="0" bIns="0" rtlCol="0" anchor="ctr"/>
          <a:lstStyle/>
          <a:p>
            <a:pPr indent="0" algn="l">
              <a:lnSpc>
                <a:spcPct val="150000"/>
              </a:lnSpc>
              <a:defRPr/>
            </a:pPr>
            <a:r>
              <a:rPr lang="en-US" sz="1670" b="0">
                <a:solidFill>
                  <a:srgbClr val="D9D9D9"/>
                </a:solidFill>
                <a:latin typeface="Poppins"/>
              </a:rPr>
              <a:t>Invisible tracking mechanisms embedded across websites and applications, collecting behavioral and personal data without explicit user consent.</a:t>
            </a:r>
            <a:endParaRPr lang="en-US" sz="1100"/>
          </a:p>
        </p:txBody>
      </p:sp>
      <p:sp>
        <p:nvSpPr>
          <p:cNvPr id="27" name="AutoShape 27"/>
          <p:cNvSpPr/>
          <p:nvPr/>
        </p:nvSpPr>
        <p:spPr>
          <a:xfrm>
            <a:off x="8254012" y="5839082"/>
            <a:ext cx="7119876" cy="2721624"/>
          </a:xfrm>
          <a:prstGeom prst="rect">
            <a:avLst/>
          </a:prstGeom>
          <a:solidFill>
            <a:srgbClr val="33291B">
              <a:alpha val="71765"/>
            </a:srgbClr>
          </a:solidFill>
          <a:ln w="13547">
            <a:solidFill>
              <a:srgbClr val="9F6700">
                <a:alpha val="78824"/>
              </a:srgbClr>
            </a:solidFill>
          </a:ln>
        </p:spPr>
      </p:sp>
      <p:sp>
        <p:nvSpPr>
          <p:cNvPr id="28" name="AutoShape 28"/>
          <p:cNvSpPr/>
          <p:nvPr/>
        </p:nvSpPr>
        <p:spPr>
          <a:xfrm>
            <a:off x="8582521" y="6065162"/>
            <a:ext cx="636325" cy="636325"/>
          </a:xfrm>
          <a:prstGeom prst="roundRect">
            <a:avLst>
              <a:gd name="adj" fmla="val 50000"/>
            </a:avLst>
          </a:prstGeom>
          <a:solidFill>
            <a:srgbClr val="BE7208"/>
          </a:solidFill>
        </p:spPr>
      </p:sp>
      <p:pic>
        <p:nvPicPr>
          <p:cNvPr id="29" name="Picture 29"/>
          <p:cNvPicPr>
            <a:picLocks noChangeAspect="1"/>
          </p:cNvPicPr>
          <p:nvPr/>
        </p:nvPicPr>
        <p:blipFill>
          <a:blip r:embed="rId8"/>
          <a:stretch>
            <a:fillRect/>
          </a:stretch>
        </p:blipFill>
        <p:spPr>
          <a:xfrm>
            <a:off x="8794633" y="6277267"/>
            <a:ext cx="212108" cy="212108"/>
          </a:xfrm>
          <a:prstGeom prst="rect">
            <a:avLst/>
          </a:prstGeom>
        </p:spPr>
      </p:pic>
      <p:sp>
        <p:nvSpPr>
          <p:cNvPr id="30" name="TextBox 30"/>
          <p:cNvSpPr txBox="1"/>
          <p:nvPr/>
        </p:nvSpPr>
        <p:spPr>
          <a:xfrm>
            <a:off x="8522637" y="6913593"/>
            <a:ext cx="6582630" cy="318162"/>
          </a:xfrm>
          <a:prstGeom prst="rect">
            <a:avLst/>
          </a:prstGeom>
          <a:solidFill>
            <a:srgbClr val="000000">
              <a:alpha val="0"/>
            </a:srgbClr>
          </a:solidFill>
        </p:spPr>
        <p:txBody>
          <a:bodyPr lIns="0" tIns="0" rIns="0" bIns="0" rtlCol="0" anchor="ctr"/>
          <a:lstStyle/>
          <a:p>
            <a:pPr indent="0" algn="l">
              <a:lnSpc>
                <a:spcPct val="120000"/>
              </a:lnSpc>
              <a:defRPr/>
            </a:pPr>
            <a:r>
              <a:rPr lang="en-US" sz="2087" b="1">
                <a:solidFill>
                  <a:srgbClr val="FF9A0C"/>
                </a:solidFill>
                <a:latin typeface="Belanosima"/>
              </a:rPr>
              <a:t>AI Trained on Private Data</a:t>
            </a:r>
            <a:endParaRPr lang="en-US" sz="1100"/>
          </a:p>
        </p:txBody>
      </p:sp>
      <p:sp>
        <p:nvSpPr>
          <p:cNvPr id="31" name="TextBox 31"/>
          <p:cNvSpPr txBox="1"/>
          <p:nvPr/>
        </p:nvSpPr>
        <p:spPr>
          <a:xfrm>
            <a:off x="8522637" y="7380143"/>
            <a:ext cx="6582630" cy="954487"/>
          </a:xfrm>
          <a:prstGeom prst="rect">
            <a:avLst/>
          </a:prstGeom>
          <a:solidFill>
            <a:srgbClr val="000000">
              <a:alpha val="0"/>
            </a:srgbClr>
          </a:solidFill>
        </p:spPr>
        <p:txBody>
          <a:bodyPr lIns="0" tIns="0" rIns="0" bIns="0" rtlCol="0" anchor="ctr"/>
          <a:lstStyle/>
          <a:p>
            <a:pPr indent="0" algn="l">
              <a:lnSpc>
                <a:spcPct val="150000"/>
              </a:lnSpc>
              <a:defRPr/>
            </a:pPr>
            <a:r>
              <a:rPr lang="en-US" sz="1670" b="0">
                <a:solidFill>
                  <a:srgbClr val="D9D9D9"/>
                </a:solidFill>
                <a:latin typeface="Poppins"/>
              </a:rPr>
              <a:t>Machine learning models trained using sensitive user information without proper anonymization, risking privacy breaches and data misuse.</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a:ln w="13547">
            <a:solidFill>
              <a:srgbClr val="B46F00"/>
            </a:solidFill>
          </a:ln>
        </p:spPr>
      </p:sp>
      <p:pic>
        <p:nvPicPr>
          <p:cNvPr id="3" name="Picture 3"/>
          <p:cNvPicPr>
            <a:picLocks noChangeAspect="1"/>
          </p:cNvPicPr>
          <p:nvPr/>
        </p:nvPicPr>
        <p:blipFill>
          <a:blip r:embed="rId3"/>
          <a:srcRect t="74" b="74"/>
          <a:stretch>
            <a:fillRect/>
          </a:stretch>
        </p:blipFill>
        <p:spPr>
          <a:xfrm>
            <a:off x="0" y="0"/>
            <a:ext cx="16256000" cy="9144000"/>
          </a:xfrm>
          <a:prstGeom prst="rect">
            <a:avLst/>
          </a:prstGeom>
        </p:spPr>
      </p:pic>
      <p:pic>
        <p:nvPicPr>
          <p:cNvPr id="4" name="Picture 4"/>
          <p:cNvPicPr>
            <a:picLocks noChangeAspect="1"/>
          </p:cNvPicPr>
          <p:nvPr/>
        </p:nvPicPr>
        <p:blipFill>
          <a:blip r:embed="rId4"/>
          <a:srcRect t="656" b="656"/>
          <a:stretch>
            <a:fillRect/>
          </a:stretch>
        </p:blipFill>
        <p:spPr>
          <a:xfrm>
            <a:off x="16591" y="12777"/>
            <a:ext cx="5185305" cy="9118444"/>
          </a:xfrm>
          <a:prstGeom prst="roundRect">
            <a:avLst>
              <a:gd name="adj" fmla="val 3743"/>
            </a:avLst>
          </a:prstGeom>
        </p:spPr>
      </p:pic>
      <p:sp>
        <p:nvSpPr>
          <p:cNvPr id="5" name="TextBox 5"/>
          <p:cNvSpPr txBox="1"/>
          <p:nvPr/>
        </p:nvSpPr>
        <p:spPr>
          <a:xfrm>
            <a:off x="6084004" y="533769"/>
            <a:ext cx="9289630" cy="465677"/>
          </a:xfrm>
          <a:prstGeom prst="rect">
            <a:avLst/>
          </a:prstGeom>
          <a:solidFill>
            <a:srgbClr val="000000">
              <a:alpha val="0"/>
            </a:srgbClr>
          </a:solidFill>
        </p:spPr>
        <p:txBody>
          <a:bodyPr lIns="0" tIns="0" rIns="0" bIns="0" rtlCol="0" anchor="ctr"/>
          <a:lstStyle/>
          <a:p>
            <a:pPr indent="0" algn="l">
              <a:lnSpc>
                <a:spcPct val="120000"/>
              </a:lnSpc>
              <a:defRPr/>
            </a:pPr>
            <a:r>
              <a:rPr lang="en-US" sz="3056" b="1">
                <a:solidFill>
                  <a:srgbClr val="FF9D09"/>
                </a:solidFill>
                <a:latin typeface="Belanosima"/>
              </a:rPr>
              <a:t>Ethical Concerns</a:t>
            </a:r>
            <a:endParaRPr lang="en-US" sz="1100"/>
          </a:p>
        </p:txBody>
      </p:sp>
      <p:sp>
        <p:nvSpPr>
          <p:cNvPr id="6" name="TextBox 6"/>
          <p:cNvSpPr txBox="1"/>
          <p:nvPr/>
        </p:nvSpPr>
        <p:spPr>
          <a:xfrm>
            <a:off x="6084004" y="1217709"/>
            <a:ext cx="9289630" cy="349258"/>
          </a:xfrm>
          <a:prstGeom prst="rect">
            <a:avLst/>
          </a:prstGeom>
          <a:solidFill>
            <a:srgbClr val="000000">
              <a:alpha val="0"/>
            </a:srgbClr>
          </a:solidFill>
        </p:spPr>
        <p:txBody>
          <a:bodyPr lIns="0" tIns="0" rIns="0" bIns="0" rtlCol="0" anchor="ctr"/>
          <a:lstStyle/>
          <a:p>
            <a:pPr indent="0" algn="l">
              <a:lnSpc>
                <a:spcPct val="120000"/>
              </a:lnSpc>
              <a:defRPr/>
            </a:pPr>
            <a:r>
              <a:rPr lang="en-US" sz="2292" b="1">
                <a:solidFill>
                  <a:srgbClr val="FF9D09"/>
                </a:solidFill>
                <a:latin typeface="Belanosima"/>
              </a:rPr>
              <a:t>Privacy Is Also a Moral Issue</a:t>
            </a:r>
            <a:endParaRPr lang="en-US" sz="1100"/>
          </a:p>
        </p:txBody>
      </p:sp>
      <p:sp>
        <p:nvSpPr>
          <p:cNvPr id="7" name="AutoShape 7"/>
          <p:cNvSpPr/>
          <p:nvPr/>
        </p:nvSpPr>
        <p:spPr>
          <a:xfrm>
            <a:off x="6084004" y="1785228"/>
            <a:ext cx="9289630" cy="6825000"/>
          </a:xfrm>
          <a:prstGeom prst="rect">
            <a:avLst/>
          </a:prstGeom>
          <a:solidFill>
            <a:srgbClr val="000000">
              <a:alpha val="0"/>
            </a:srgbClr>
          </a:solidFill>
        </p:spPr>
      </p:sp>
      <p:sp>
        <p:nvSpPr>
          <p:cNvPr id="8" name="AutoShape 8"/>
          <p:cNvSpPr/>
          <p:nvPr/>
        </p:nvSpPr>
        <p:spPr>
          <a:xfrm>
            <a:off x="6084004" y="1785228"/>
            <a:ext cx="2928429" cy="4916771"/>
          </a:xfrm>
          <a:prstGeom prst="rect">
            <a:avLst/>
          </a:prstGeom>
          <a:solidFill>
            <a:srgbClr val="000000">
              <a:alpha val="0"/>
            </a:srgbClr>
          </a:solidFill>
          <a:ln w="13547">
            <a:solidFill>
              <a:srgbClr val="9F6700">
                <a:alpha val="78824"/>
              </a:srgbClr>
            </a:solidFill>
          </a:ln>
        </p:spPr>
      </p:sp>
      <p:sp>
        <p:nvSpPr>
          <p:cNvPr id="9" name="AutoShape 9"/>
          <p:cNvSpPr/>
          <p:nvPr/>
        </p:nvSpPr>
        <p:spPr>
          <a:xfrm>
            <a:off x="6075450" y="1778635"/>
            <a:ext cx="100605" cy="4929950"/>
          </a:xfrm>
          <a:prstGeom prst="rect">
            <a:avLst/>
          </a:prstGeom>
          <a:solidFill>
            <a:srgbClr val="BE7208"/>
          </a:solidFill>
        </p:spPr>
      </p:sp>
      <p:sp>
        <p:nvSpPr>
          <p:cNvPr id="10" name="TextBox 10"/>
          <p:cNvSpPr txBox="1"/>
          <p:nvPr/>
        </p:nvSpPr>
        <p:spPr>
          <a:xfrm>
            <a:off x="6352628" y="1992106"/>
            <a:ext cx="2391183" cy="873444"/>
          </a:xfrm>
          <a:prstGeom prst="rect">
            <a:avLst/>
          </a:prstGeom>
          <a:solidFill>
            <a:srgbClr val="000000">
              <a:alpha val="0"/>
            </a:srgbClr>
          </a:solidFill>
        </p:spPr>
        <p:txBody>
          <a:bodyPr lIns="0" tIns="0" rIns="0" bIns="0" rtlCol="0" anchor="ctr"/>
          <a:lstStyle/>
          <a:p>
            <a:pPr indent="0" algn="l">
              <a:lnSpc>
                <a:spcPct val="120000"/>
              </a:lnSpc>
              <a:defRPr/>
            </a:pPr>
            <a:r>
              <a:rPr lang="en-US" sz="1910" b="1">
                <a:solidFill>
                  <a:srgbClr val="FF9A0C"/>
                </a:solidFill>
                <a:latin typeface="Belanosima"/>
              </a:rPr>
              <a:t>Users Don't Understand Agreements</a:t>
            </a:r>
            <a:endParaRPr lang="en-US" sz="1100"/>
          </a:p>
        </p:txBody>
      </p:sp>
      <p:sp>
        <p:nvSpPr>
          <p:cNvPr id="11" name="TextBox 11"/>
          <p:cNvSpPr txBox="1"/>
          <p:nvPr/>
        </p:nvSpPr>
        <p:spPr>
          <a:xfrm>
            <a:off x="6352628" y="3001340"/>
            <a:ext cx="2391183" cy="2911480"/>
          </a:xfrm>
          <a:prstGeom prst="rect">
            <a:avLst/>
          </a:prstGeom>
          <a:solidFill>
            <a:srgbClr val="000000">
              <a:alpha val="0"/>
            </a:srgbClr>
          </a:solidFill>
        </p:spPr>
        <p:txBody>
          <a:bodyPr lIns="0" tIns="0" rIns="0" bIns="0" rtlCol="0" anchor="ctr"/>
          <a:lstStyle/>
          <a:p>
            <a:pPr indent="0" algn="l">
              <a:lnSpc>
                <a:spcPct val="150000"/>
              </a:lnSpc>
              <a:defRPr/>
            </a:pPr>
            <a:r>
              <a:rPr lang="en-US" sz="1528" b="0">
                <a:solidFill>
                  <a:srgbClr val="D9D9D9"/>
                </a:solidFill>
                <a:latin typeface="Poppins"/>
              </a:rPr>
              <a:t>Most users never read terms and conditions, blindly accepting data collection policies without understanding the implications and scope of data sharing.</a:t>
            </a:r>
            <a:endParaRPr lang="en-US" sz="1100"/>
          </a:p>
        </p:txBody>
      </p:sp>
      <p:sp>
        <p:nvSpPr>
          <p:cNvPr id="12" name="AutoShape 12"/>
          <p:cNvSpPr/>
          <p:nvPr/>
        </p:nvSpPr>
        <p:spPr>
          <a:xfrm>
            <a:off x="9264473" y="1785228"/>
            <a:ext cx="2928429" cy="4916771"/>
          </a:xfrm>
          <a:prstGeom prst="rect">
            <a:avLst/>
          </a:prstGeom>
          <a:solidFill>
            <a:srgbClr val="000000">
              <a:alpha val="0"/>
            </a:srgbClr>
          </a:solidFill>
          <a:ln w="13547">
            <a:solidFill>
              <a:srgbClr val="9F6700">
                <a:alpha val="78824"/>
              </a:srgbClr>
            </a:solidFill>
          </a:ln>
        </p:spPr>
      </p:sp>
      <p:sp>
        <p:nvSpPr>
          <p:cNvPr id="13" name="AutoShape 13"/>
          <p:cNvSpPr/>
          <p:nvPr/>
        </p:nvSpPr>
        <p:spPr>
          <a:xfrm>
            <a:off x="9255920" y="1778635"/>
            <a:ext cx="100605" cy="4929950"/>
          </a:xfrm>
          <a:prstGeom prst="rect">
            <a:avLst/>
          </a:prstGeom>
          <a:solidFill>
            <a:srgbClr val="BE7208"/>
          </a:solidFill>
        </p:spPr>
      </p:sp>
      <p:sp>
        <p:nvSpPr>
          <p:cNvPr id="14" name="TextBox 14"/>
          <p:cNvSpPr txBox="1"/>
          <p:nvPr/>
        </p:nvSpPr>
        <p:spPr>
          <a:xfrm>
            <a:off x="9533098" y="1992106"/>
            <a:ext cx="2391183" cy="873444"/>
          </a:xfrm>
          <a:prstGeom prst="rect">
            <a:avLst/>
          </a:prstGeom>
          <a:solidFill>
            <a:srgbClr val="000000">
              <a:alpha val="0"/>
            </a:srgbClr>
          </a:solidFill>
        </p:spPr>
        <p:txBody>
          <a:bodyPr lIns="0" tIns="0" rIns="0" bIns="0" rtlCol="0" anchor="ctr"/>
          <a:lstStyle/>
          <a:p>
            <a:pPr indent="0" algn="l">
              <a:lnSpc>
                <a:spcPct val="120000"/>
              </a:lnSpc>
              <a:defRPr/>
            </a:pPr>
            <a:r>
              <a:rPr lang="en-US" sz="1910" b="1">
                <a:solidFill>
                  <a:srgbClr val="FF9A0C"/>
                </a:solidFill>
                <a:latin typeface="Belanosima"/>
              </a:rPr>
              <a:t>Companies Profit from Over-Collection</a:t>
            </a:r>
            <a:endParaRPr lang="en-US" sz="1100"/>
          </a:p>
        </p:txBody>
      </p:sp>
      <p:sp>
        <p:nvSpPr>
          <p:cNvPr id="15" name="TextBox 15"/>
          <p:cNvSpPr txBox="1"/>
          <p:nvPr/>
        </p:nvSpPr>
        <p:spPr>
          <a:xfrm>
            <a:off x="9533098" y="3001340"/>
            <a:ext cx="2391183" cy="3493776"/>
          </a:xfrm>
          <a:prstGeom prst="rect">
            <a:avLst/>
          </a:prstGeom>
          <a:solidFill>
            <a:srgbClr val="000000">
              <a:alpha val="0"/>
            </a:srgbClr>
          </a:solidFill>
        </p:spPr>
        <p:txBody>
          <a:bodyPr lIns="0" tIns="0" rIns="0" bIns="0" rtlCol="0" anchor="ctr"/>
          <a:lstStyle/>
          <a:p>
            <a:pPr indent="0" algn="l">
              <a:lnSpc>
                <a:spcPct val="150000"/>
              </a:lnSpc>
              <a:defRPr/>
            </a:pPr>
            <a:r>
              <a:rPr lang="en-US" sz="1528" b="0">
                <a:solidFill>
                  <a:srgbClr val="D9D9D9"/>
                </a:solidFill>
                <a:latin typeface="Poppins"/>
              </a:rPr>
              <a:t>Organizations collect far more personal data than necessary, monetizing user information through advertising, analytics, and third-party sales for maximum revenue.</a:t>
            </a:r>
            <a:endParaRPr lang="en-US" sz="1100"/>
          </a:p>
        </p:txBody>
      </p:sp>
      <p:sp>
        <p:nvSpPr>
          <p:cNvPr id="16" name="AutoShape 16"/>
          <p:cNvSpPr/>
          <p:nvPr/>
        </p:nvSpPr>
        <p:spPr>
          <a:xfrm>
            <a:off x="12444943" y="1785228"/>
            <a:ext cx="2928694" cy="4916771"/>
          </a:xfrm>
          <a:prstGeom prst="rect">
            <a:avLst/>
          </a:prstGeom>
          <a:solidFill>
            <a:srgbClr val="000000">
              <a:alpha val="0"/>
            </a:srgbClr>
          </a:solidFill>
          <a:ln w="13547">
            <a:solidFill>
              <a:srgbClr val="9F6700">
                <a:alpha val="78824"/>
              </a:srgbClr>
            </a:solidFill>
          </a:ln>
        </p:spPr>
      </p:sp>
      <p:sp>
        <p:nvSpPr>
          <p:cNvPr id="17" name="AutoShape 17"/>
          <p:cNvSpPr/>
          <p:nvPr/>
        </p:nvSpPr>
        <p:spPr>
          <a:xfrm>
            <a:off x="12436389" y="1778635"/>
            <a:ext cx="100605" cy="4929950"/>
          </a:xfrm>
          <a:prstGeom prst="rect">
            <a:avLst/>
          </a:prstGeom>
          <a:solidFill>
            <a:srgbClr val="BE7208"/>
          </a:solidFill>
        </p:spPr>
      </p:sp>
      <p:sp>
        <p:nvSpPr>
          <p:cNvPr id="18" name="TextBox 18"/>
          <p:cNvSpPr txBox="1"/>
          <p:nvPr/>
        </p:nvSpPr>
        <p:spPr>
          <a:xfrm>
            <a:off x="12713567" y="1992106"/>
            <a:ext cx="2391448" cy="582296"/>
          </a:xfrm>
          <a:prstGeom prst="rect">
            <a:avLst/>
          </a:prstGeom>
          <a:solidFill>
            <a:srgbClr val="000000">
              <a:alpha val="0"/>
            </a:srgbClr>
          </a:solidFill>
        </p:spPr>
        <p:txBody>
          <a:bodyPr lIns="0" tIns="0" rIns="0" bIns="0" rtlCol="0" anchor="ctr"/>
          <a:lstStyle/>
          <a:p>
            <a:pPr indent="0" algn="l">
              <a:lnSpc>
                <a:spcPct val="120000"/>
              </a:lnSpc>
              <a:defRPr/>
            </a:pPr>
            <a:r>
              <a:rPr lang="en-US" sz="1910" b="1">
                <a:solidFill>
                  <a:srgbClr val="FF9A0C"/>
                </a:solidFill>
                <a:latin typeface="Belanosima"/>
              </a:rPr>
              <a:t>AI Infers Sensitive Traits</a:t>
            </a:r>
            <a:endParaRPr lang="en-US" sz="1100"/>
          </a:p>
        </p:txBody>
      </p:sp>
      <p:sp>
        <p:nvSpPr>
          <p:cNvPr id="19" name="TextBox 19"/>
          <p:cNvSpPr txBox="1"/>
          <p:nvPr/>
        </p:nvSpPr>
        <p:spPr>
          <a:xfrm>
            <a:off x="12713567" y="2710189"/>
            <a:ext cx="2391448" cy="3493776"/>
          </a:xfrm>
          <a:prstGeom prst="rect">
            <a:avLst/>
          </a:prstGeom>
          <a:solidFill>
            <a:srgbClr val="000000">
              <a:alpha val="0"/>
            </a:srgbClr>
          </a:solidFill>
        </p:spPr>
        <p:txBody>
          <a:bodyPr lIns="0" tIns="0" rIns="0" bIns="0" rtlCol="0" anchor="ctr"/>
          <a:lstStyle/>
          <a:p>
            <a:pPr indent="0" algn="l">
              <a:lnSpc>
                <a:spcPct val="150000"/>
              </a:lnSpc>
              <a:defRPr/>
            </a:pPr>
            <a:r>
              <a:rPr lang="en-US" sz="1528" b="0">
                <a:solidFill>
                  <a:srgbClr val="D9D9D9"/>
                </a:solidFill>
                <a:latin typeface="Poppins"/>
              </a:rPr>
              <a:t>Artificial intelligence systems can infer intimate personal attributes like political beliefs, sexual orientation, and health conditions from incomplete or seemingly innocuous data.</a:t>
            </a:r>
            <a:endParaRPr lang="en-US" sz="1100"/>
          </a:p>
        </p:txBody>
      </p:sp>
      <p:sp>
        <p:nvSpPr>
          <p:cNvPr id="20" name="AutoShape 20"/>
          <p:cNvSpPr/>
          <p:nvPr/>
        </p:nvSpPr>
        <p:spPr>
          <a:xfrm>
            <a:off x="6084004" y="6896091"/>
            <a:ext cx="9289630" cy="1714143"/>
          </a:xfrm>
          <a:prstGeom prst="rect">
            <a:avLst/>
          </a:prstGeom>
          <a:solidFill>
            <a:srgbClr val="000000">
              <a:alpha val="0"/>
            </a:srgbClr>
          </a:solidFill>
          <a:ln w="13547">
            <a:solidFill>
              <a:srgbClr val="9F6700">
                <a:alpha val="78824"/>
              </a:srgbClr>
            </a:solidFill>
          </a:ln>
        </p:spPr>
      </p:sp>
      <p:sp>
        <p:nvSpPr>
          <p:cNvPr id="21" name="AutoShape 21"/>
          <p:cNvSpPr/>
          <p:nvPr/>
        </p:nvSpPr>
        <p:spPr>
          <a:xfrm>
            <a:off x="6075450" y="6889503"/>
            <a:ext cx="100605" cy="1727322"/>
          </a:xfrm>
          <a:prstGeom prst="rect">
            <a:avLst/>
          </a:prstGeom>
          <a:solidFill>
            <a:srgbClr val="BE7208"/>
          </a:solidFill>
        </p:spPr>
      </p:sp>
      <p:sp>
        <p:nvSpPr>
          <p:cNvPr id="22" name="TextBox 22"/>
          <p:cNvSpPr txBox="1"/>
          <p:nvPr/>
        </p:nvSpPr>
        <p:spPr>
          <a:xfrm>
            <a:off x="6352628" y="7102975"/>
            <a:ext cx="8752368" cy="291148"/>
          </a:xfrm>
          <a:prstGeom prst="rect">
            <a:avLst/>
          </a:prstGeom>
          <a:solidFill>
            <a:srgbClr val="000000">
              <a:alpha val="0"/>
            </a:srgbClr>
          </a:solidFill>
        </p:spPr>
        <p:txBody>
          <a:bodyPr lIns="0" tIns="0" rIns="0" bIns="0" rtlCol="0" anchor="ctr"/>
          <a:lstStyle/>
          <a:p>
            <a:pPr indent="0" algn="l">
              <a:lnSpc>
                <a:spcPct val="120000"/>
              </a:lnSpc>
              <a:defRPr/>
            </a:pPr>
            <a:r>
              <a:rPr lang="en-US" sz="1910" b="1">
                <a:solidFill>
                  <a:srgbClr val="FF9A0C"/>
                </a:solidFill>
                <a:latin typeface="Belanosima"/>
              </a:rPr>
              <a:t>Surveillance Impacts Marginalized Groups Most</a:t>
            </a:r>
            <a:endParaRPr lang="en-US" sz="1100"/>
          </a:p>
        </p:txBody>
      </p:sp>
      <p:sp>
        <p:nvSpPr>
          <p:cNvPr id="23" name="TextBox 23"/>
          <p:cNvSpPr txBox="1"/>
          <p:nvPr/>
        </p:nvSpPr>
        <p:spPr>
          <a:xfrm>
            <a:off x="6352628" y="7529911"/>
            <a:ext cx="8752368" cy="873444"/>
          </a:xfrm>
          <a:prstGeom prst="rect">
            <a:avLst/>
          </a:prstGeom>
          <a:solidFill>
            <a:srgbClr val="000000">
              <a:alpha val="0"/>
            </a:srgbClr>
          </a:solidFill>
        </p:spPr>
        <p:txBody>
          <a:bodyPr lIns="0" tIns="0" rIns="0" bIns="0" rtlCol="0" anchor="ctr"/>
          <a:lstStyle/>
          <a:p>
            <a:pPr indent="0" algn="l">
              <a:lnSpc>
                <a:spcPct val="150000"/>
              </a:lnSpc>
              <a:defRPr/>
            </a:pPr>
            <a:r>
              <a:rPr lang="en-US" sz="1528" b="0">
                <a:solidFill>
                  <a:srgbClr val="D9D9D9"/>
                </a:solidFill>
                <a:latin typeface="Poppins"/>
              </a:rPr>
              <a:t>Surveillance systems disproportionately affect minorities and vulnerable populations, reinforcing discrimination and limiting freedom for already disadvantaged communities.</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a:ln w="13547">
            <a:solidFill>
              <a:srgbClr val="B46F00"/>
            </a:solidFill>
          </a:ln>
        </p:spPr>
      </p:sp>
      <p:pic>
        <p:nvPicPr>
          <p:cNvPr id="3" name="Picture 3"/>
          <p:cNvPicPr>
            <a:picLocks noChangeAspect="1"/>
          </p:cNvPicPr>
          <p:nvPr/>
        </p:nvPicPr>
        <p:blipFill>
          <a:blip r:embed="rId3"/>
          <a:srcRect t="74" b="74"/>
          <a:stretch>
            <a:fillRect/>
          </a:stretch>
        </p:blipFill>
        <p:spPr>
          <a:xfrm>
            <a:off x="0" y="0"/>
            <a:ext cx="16256000" cy="9144000"/>
          </a:xfrm>
          <a:prstGeom prst="rect">
            <a:avLst/>
          </a:prstGeom>
        </p:spPr>
      </p:pic>
      <p:sp>
        <p:nvSpPr>
          <p:cNvPr id="4" name="TextBox 4"/>
          <p:cNvSpPr txBox="1"/>
          <p:nvPr/>
        </p:nvSpPr>
        <p:spPr>
          <a:xfrm>
            <a:off x="882112" y="488197"/>
            <a:ext cx="14491783" cy="425914"/>
          </a:xfrm>
          <a:prstGeom prst="rect">
            <a:avLst/>
          </a:prstGeom>
          <a:solidFill>
            <a:srgbClr val="000000">
              <a:alpha val="0"/>
            </a:srgbClr>
          </a:solidFill>
        </p:spPr>
        <p:txBody>
          <a:bodyPr lIns="0" tIns="0" rIns="0" bIns="0" rtlCol="0" anchor="ctr"/>
          <a:lstStyle/>
          <a:p>
            <a:pPr indent="0" algn="l">
              <a:lnSpc>
                <a:spcPct val="120000"/>
              </a:lnSpc>
              <a:defRPr/>
            </a:pPr>
            <a:r>
              <a:rPr lang="en-US" sz="2795" b="1">
                <a:solidFill>
                  <a:srgbClr val="FF9D09"/>
                </a:solidFill>
                <a:latin typeface="Belanosima"/>
              </a:rPr>
              <a:t>Technical Solutions</a:t>
            </a:r>
            <a:endParaRPr lang="en-US" sz="1100"/>
          </a:p>
        </p:txBody>
      </p:sp>
      <p:sp>
        <p:nvSpPr>
          <p:cNvPr id="5" name="TextBox 5"/>
          <p:cNvSpPr txBox="1"/>
          <p:nvPr/>
        </p:nvSpPr>
        <p:spPr>
          <a:xfrm>
            <a:off x="882112" y="1113732"/>
            <a:ext cx="14491783" cy="319436"/>
          </a:xfrm>
          <a:prstGeom prst="rect">
            <a:avLst/>
          </a:prstGeom>
          <a:solidFill>
            <a:srgbClr val="000000">
              <a:alpha val="0"/>
            </a:srgbClr>
          </a:solidFill>
        </p:spPr>
        <p:txBody>
          <a:bodyPr lIns="0" tIns="0" rIns="0" bIns="0" rtlCol="0" anchor="ctr"/>
          <a:lstStyle/>
          <a:p>
            <a:pPr indent="0" algn="l">
              <a:lnSpc>
                <a:spcPct val="120000"/>
              </a:lnSpc>
              <a:defRPr/>
            </a:pPr>
            <a:r>
              <a:rPr lang="en-US" sz="2096" b="1">
                <a:solidFill>
                  <a:srgbClr val="FF9D09"/>
                </a:solidFill>
                <a:latin typeface="Belanosima"/>
              </a:rPr>
              <a:t>Fixing Privacy at the System Level</a:t>
            </a:r>
            <a:endParaRPr lang="en-US" sz="1100"/>
          </a:p>
        </p:txBody>
      </p:sp>
      <p:sp>
        <p:nvSpPr>
          <p:cNvPr id="6" name="AutoShape 6"/>
          <p:cNvSpPr/>
          <p:nvPr/>
        </p:nvSpPr>
        <p:spPr>
          <a:xfrm>
            <a:off x="882112" y="1632795"/>
            <a:ext cx="14491783" cy="7023013"/>
          </a:xfrm>
          <a:prstGeom prst="rect">
            <a:avLst/>
          </a:prstGeom>
          <a:solidFill>
            <a:srgbClr val="000000">
              <a:alpha val="0"/>
            </a:srgbClr>
          </a:solidFill>
        </p:spPr>
      </p:sp>
      <p:sp>
        <p:nvSpPr>
          <p:cNvPr id="7" name="AutoShape 7"/>
          <p:cNvSpPr/>
          <p:nvPr/>
        </p:nvSpPr>
        <p:spPr>
          <a:xfrm>
            <a:off x="882112" y="1632795"/>
            <a:ext cx="3433798" cy="4248187"/>
          </a:xfrm>
          <a:prstGeom prst="rect">
            <a:avLst/>
          </a:prstGeom>
          <a:solidFill>
            <a:srgbClr val="33291B">
              <a:alpha val="71765"/>
            </a:srgbClr>
          </a:solidFill>
          <a:ln w="13547">
            <a:solidFill>
              <a:srgbClr val="9F6700">
                <a:alpha val="78824"/>
              </a:srgbClr>
            </a:solidFill>
          </a:ln>
        </p:spPr>
      </p:sp>
      <p:sp>
        <p:nvSpPr>
          <p:cNvPr id="8" name="AutoShape 8"/>
          <p:cNvSpPr/>
          <p:nvPr/>
        </p:nvSpPr>
        <p:spPr>
          <a:xfrm>
            <a:off x="1262495" y="1822009"/>
            <a:ext cx="532575" cy="532575"/>
          </a:xfrm>
          <a:prstGeom prst="roundRect">
            <a:avLst>
              <a:gd name="adj" fmla="val 50000"/>
            </a:avLst>
          </a:prstGeom>
          <a:solidFill>
            <a:srgbClr val="BE7208"/>
          </a:solidFill>
        </p:spPr>
      </p:sp>
      <p:pic>
        <p:nvPicPr>
          <p:cNvPr id="9" name="Picture 9"/>
          <p:cNvPicPr>
            <a:picLocks noChangeAspect="1"/>
          </p:cNvPicPr>
          <p:nvPr/>
        </p:nvPicPr>
        <p:blipFill>
          <a:blip r:embed="rId4"/>
          <a:stretch>
            <a:fillRect/>
          </a:stretch>
        </p:blipFill>
        <p:spPr>
          <a:xfrm>
            <a:off x="1439893" y="1999533"/>
            <a:ext cx="177525" cy="177525"/>
          </a:xfrm>
          <a:prstGeom prst="rect">
            <a:avLst/>
          </a:prstGeom>
        </p:spPr>
      </p:pic>
      <p:sp>
        <p:nvSpPr>
          <p:cNvPr id="10" name="TextBox 10"/>
          <p:cNvSpPr txBox="1"/>
          <p:nvPr/>
        </p:nvSpPr>
        <p:spPr>
          <a:xfrm>
            <a:off x="1150736" y="2532109"/>
            <a:ext cx="2896536" cy="638871"/>
          </a:xfrm>
          <a:prstGeom prst="rect">
            <a:avLst/>
          </a:prstGeom>
          <a:solidFill>
            <a:srgbClr val="000000">
              <a:alpha val="0"/>
            </a:srgbClr>
          </a:solidFill>
        </p:spPr>
        <p:txBody>
          <a:bodyPr lIns="0" tIns="0" rIns="0" bIns="0" rtlCol="0" anchor="ctr"/>
          <a:lstStyle/>
          <a:p>
            <a:pPr indent="0" algn="l">
              <a:lnSpc>
                <a:spcPct val="120000"/>
              </a:lnSpc>
              <a:defRPr/>
            </a:pPr>
            <a:r>
              <a:rPr lang="en-US" sz="2096" b="1">
                <a:solidFill>
                  <a:srgbClr val="FF9D09"/>
                </a:solidFill>
                <a:latin typeface="Belanosima"/>
              </a:rPr>
              <a:t>End-to-end encryption</a:t>
            </a:r>
            <a:endParaRPr lang="en-US" sz="1100"/>
          </a:p>
        </p:txBody>
      </p:sp>
      <p:sp>
        <p:nvSpPr>
          <p:cNvPr id="11" name="TextBox 11"/>
          <p:cNvSpPr txBox="1"/>
          <p:nvPr/>
        </p:nvSpPr>
        <p:spPr>
          <a:xfrm>
            <a:off x="1150736" y="3295175"/>
            <a:ext cx="2896536" cy="2396589"/>
          </a:xfrm>
          <a:prstGeom prst="rect">
            <a:avLst/>
          </a:prstGeom>
          <a:solidFill>
            <a:srgbClr val="000000">
              <a:alpha val="0"/>
            </a:srgbClr>
          </a:solidFill>
        </p:spPr>
        <p:txBody>
          <a:bodyPr lIns="0" tIns="0" rIns="0" bIns="0" rtlCol="0" anchor="ctr"/>
          <a:lstStyle/>
          <a:p>
            <a:pPr indent="0" algn="l">
              <a:lnSpc>
                <a:spcPct val="150000"/>
              </a:lnSpc>
              <a:defRPr/>
            </a:pPr>
            <a:r>
              <a:rPr lang="en-US" sz="1397" b="0">
                <a:solidFill>
                  <a:srgbClr val="D9D9D9"/>
                </a:solidFill>
                <a:latin typeface="Poppins"/>
              </a:rPr>
              <a:t>Secure data transmission from sender to recipient with military-grade encryption protocols, ensuring no intermediary can access sensitive information.</a:t>
            </a:r>
            <a:endParaRPr lang="en-US" sz="1100"/>
          </a:p>
        </p:txBody>
      </p:sp>
      <p:sp>
        <p:nvSpPr>
          <p:cNvPr id="12" name="AutoShape 12"/>
          <p:cNvSpPr/>
          <p:nvPr/>
        </p:nvSpPr>
        <p:spPr>
          <a:xfrm>
            <a:off x="4567940" y="1632795"/>
            <a:ext cx="3434047" cy="4248187"/>
          </a:xfrm>
          <a:prstGeom prst="rect">
            <a:avLst/>
          </a:prstGeom>
          <a:solidFill>
            <a:srgbClr val="33291B">
              <a:alpha val="71765"/>
            </a:srgbClr>
          </a:solidFill>
          <a:ln w="13547">
            <a:solidFill>
              <a:srgbClr val="9F6700">
                <a:alpha val="78824"/>
              </a:srgbClr>
            </a:solidFill>
          </a:ln>
        </p:spPr>
      </p:sp>
      <p:sp>
        <p:nvSpPr>
          <p:cNvPr id="13" name="AutoShape 13"/>
          <p:cNvSpPr/>
          <p:nvPr/>
        </p:nvSpPr>
        <p:spPr>
          <a:xfrm>
            <a:off x="4948324" y="1822009"/>
            <a:ext cx="532575" cy="532575"/>
          </a:xfrm>
          <a:prstGeom prst="roundRect">
            <a:avLst>
              <a:gd name="adj" fmla="val 50000"/>
            </a:avLst>
          </a:prstGeom>
          <a:solidFill>
            <a:srgbClr val="BE7208"/>
          </a:solidFill>
        </p:spPr>
      </p:sp>
      <p:pic>
        <p:nvPicPr>
          <p:cNvPr id="14" name="Picture 14"/>
          <p:cNvPicPr>
            <a:picLocks noChangeAspect="1"/>
          </p:cNvPicPr>
          <p:nvPr/>
        </p:nvPicPr>
        <p:blipFill>
          <a:blip r:embed="rId5"/>
          <a:stretch>
            <a:fillRect/>
          </a:stretch>
        </p:blipFill>
        <p:spPr>
          <a:xfrm>
            <a:off x="5125837" y="1999533"/>
            <a:ext cx="177525" cy="177525"/>
          </a:xfrm>
          <a:prstGeom prst="rect">
            <a:avLst/>
          </a:prstGeom>
        </p:spPr>
      </p:pic>
      <p:sp>
        <p:nvSpPr>
          <p:cNvPr id="15" name="TextBox 15"/>
          <p:cNvSpPr txBox="1"/>
          <p:nvPr/>
        </p:nvSpPr>
        <p:spPr>
          <a:xfrm>
            <a:off x="4836565" y="2532109"/>
            <a:ext cx="2896801" cy="638871"/>
          </a:xfrm>
          <a:prstGeom prst="rect">
            <a:avLst/>
          </a:prstGeom>
          <a:solidFill>
            <a:srgbClr val="000000">
              <a:alpha val="0"/>
            </a:srgbClr>
          </a:solidFill>
        </p:spPr>
        <p:txBody>
          <a:bodyPr lIns="0" tIns="0" rIns="0" bIns="0" rtlCol="0" anchor="ctr"/>
          <a:lstStyle/>
          <a:p>
            <a:pPr indent="0" algn="l">
              <a:lnSpc>
                <a:spcPct val="120000"/>
              </a:lnSpc>
              <a:defRPr/>
            </a:pPr>
            <a:r>
              <a:rPr lang="en-US" sz="2096" b="1">
                <a:solidFill>
                  <a:srgbClr val="FF9D09"/>
                </a:solidFill>
                <a:latin typeface="Belanosima"/>
              </a:rPr>
              <a:t>Zero-trust architecture</a:t>
            </a:r>
            <a:endParaRPr lang="en-US" sz="1100"/>
          </a:p>
        </p:txBody>
      </p:sp>
      <p:sp>
        <p:nvSpPr>
          <p:cNvPr id="16" name="TextBox 16"/>
          <p:cNvSpPr txBox="1"/>
          <p:nvPr/>
        </p:nvSpPr>
        <p:spPr>
          <a:xfrm>
            <a:off x="4836565" y="3295175"/>
            <a:ext cx="2896801" cy="1864014"/>
          </a:xfrm>
          <a:prstGeom prst="rect">
            <a:avLst/>
          </a:prstGeom>
          <a:solidFill>
            <a:srgbClr val="000000">
              <a:alpha val="0"/>
            </a:srgbClr>
          </a:solidFill>
        </p:spPr>
        <p:txBody>
          <a:bodyPr lIns="0" tIns="0" rIns="0" bIns="0" rtlCol="0" anchor="ctr"/>
          <a:lstStyle/>
          <a:p>
            <a:pPr indent="0" algn="l">
              <a:lnSpc>
                <a:spcPct val="150000"/>
              </a:lnSpc>
              <a:defRPr/>
            </a:pPr>
            <a:r>
              <a:rPr lang="en-US" sz="1397" b="0">
                <a:solidFill>
                  <a:srgbClr val="D9D9D9"/>
                </a:solidFill>
                <a:latin typeface="Poppins"/>
              </a:rPr>
              <a:t>Implement continuous verification at every access point, eliminating implicit trust and requiring authentication for all users and devices.</a:t>
            </a:r>
            <a:endParaRPr lang="en-US" sz="1100"/>
          </a:p>
        </p:txBody>
      </p:sp>
      <p:sp>
        <p:nvSpPr>
          <p:cNvPr id="17" name="AutoShape 17"/>
          <p:cNvSpPr/>
          <p:nvPr/>
        </p:nvSpPr>
        <p:spPr>
          <a:xfrm>
            <a:off x="8254012" y="1632795"/>
            <a:ext cx="3433798" cy="4248187"/>
          </a:xfrm>
          <a:prstGeom prst="rect">
            <a:avLst/>
          </a:prstGeom>
          <a:solidFill>
            <a:srgbClr val="33291B">
              <a:alpha val="71765"/>
            </a:srgbClr>
          </a:solidFill>
          <a:ln w="13547">
            <a:solidFill>
              <a:srgbClr val="9F6700">
                <a:alpha val="78824"/>
              </a:srgbClr>
            </a:solidFill>
          </a:ln>
        </p:spPr>
      </p:sp>
      <p:sp>
        <p:nvSpPr>
          <p:cNvPr id="18" name="AutoShape 18"/>
          <p:cNvSpPr/>
          <p:nvPr/>
        </p:nvSpPr>
        <p:spPr>
          <a:xfrm>
            <a:off x="8634396" y="1822009"/>
            <a:ext cx="532575" cy="532575"/>
          </a:xfrm>
          <a:prstGeom prst="roundRect">
            <a:avLst>
              <a:gd name="adj" fmla="val 50000"/>
            </a:avLst>
          </a:prstGeom>
          <a:solidFill>
            <a:srgbClr val="BE7208"/>
          </a:solidFill>
        </p:spPr>
      </p:sp>
      <p:pic>
        <p:nvPicPr>
          <p:cNvPr id="19" name="Picture 19"/>
          <p:cNvPicPr>
            <a:picLocks noChangeAspect="1"/>
          </p:cNvPicPr>
          <p:nvPr/>
        </p:nvPicPr>
        <p:blipFill>
          <a:blip r:embed="rId6"/>
          <a:stretch>
            <a:fillRect/>
          </a:stretch>
        </p:blipFill>
        <p:spPr>
          <a:xfrm>
            <a:off x="8811793" y="1999533"/>
            <a:ext cx="177525" cy="177525"/>
          </a:xfrm>
          <a:prstGeom prst="rect">
            <a:avLst/>
          </a:prstGeom>
        </p:spPr>
      </p:pic>
      <p:sp>
        <p:nvSpPr>
          <p:cNvPr id="20" name="TextBox 20"/>
          <p:cNvSpPr txBox="1"/>
          <p:nvPr/>
        </p:nvSpPr>
        <p:spPr>
          <a:xfrm>
            <a:off x="8522637" y="2532109"/>
            <a:ext cx="2896536" cy="638871"/>
          </a:xfrm>
          <a:prstGeom prst="rect">
            <a:avLst/>
          </a:prstGeom>
          <a:solidFill>
            <a:srgbClr val="000000">
              <a:alpha val="0"/>
            </a:srgbClr>
          </a:solidFill>
        </p:spPr>
        <p:txBody>
          <a:bodyPr lIns="0" tIns="0" rIns="0" bIns="0" rtlCol="0" anchor="ctr"/>
          <a:lstStyle/>
          <a:p>
            <a:pPr indent="0" algn="l">
              <a:lnSpc>
                <a:spcPct val="120000"/>
              </a:lnSpc>
              <a:defRPr/>
            </a:pPr>
            <a:r>
              <a:rPr lang="en-US" sz="2096" b="1">
                <a:solidFill>
                  <a:srgbClr val="FF9D09"/>
                </a:solidFill>
                <a:latin typeface="Belanosima"/>
              </a:rPr>
              <a:t>Differential privacy</a:t>
            </a:r>
            <a:endParaRPr lang="en-US" sz="1100"/>
          </a:p>
        </p:txBody>
      </p:sp>
      <p:sp>
        <p:nvSpPr>
          <p:cNvPr id="21" name="TextBox 21"/>
          <p:cNvSpPr txBox="1"/>
          <p:nvPr/>
        </p:nvSpPr>
        <p:spPr>
          <a:xfrm>
            <a:off x="8522637" y="3295175"/>
            <a:ext cx="2896536" cy="1864014"/>
          </a:xfrm>
          <a:prstGeom prst="rect">
            <a:avLst/>
          </a:prstGeom>
          <a:solidFill>
            <a:srgbClr val="000000">
              <a:alpha val="0"/>
            </a:srgbClr>
          </a:solidFill>
        </p:spPr>
        <p:txBody>
          <a:bodyPr lIns="0" tIns="0" rIns="0" bIns="0" rtlCol="0" anchor="ctr"/>
          <a:lstStyle/>
          <a:p>
            <a:pPr indent="0" algn="l">
              <a:lnSpc>
                <a:spcPct val="150000"/>
              </a:lnSpc>
              <a:defRPr/>
            </a:pPr>
            <a:r>
              <a:rPr lang="en-US" sz="1397" b="0">
                <a:solidFill>
                  <a:srgbClr val="D9D9D9"/>
                </a:solidFill>
                <a:latin typeface="Poppins"/>
              </a:rPr>
              <a:t>Add statistical noise to datasets to protect individual privacy while maintaining data utility for analysis and research purposes.</a:t>
            </a:r>
            <a:endParaRPr lang="en-US" sz="1100"/>
          </a:p>
        </p:txBody>
      </p:sp>
      <p:sp>
        <p:nvSpPr>
          <p:cNvPr id="22" name="AutoShape 22"/>
          <p:cNvSpPr/>
          <p:nvPr/>
        </p:nvSpPr>
        <p:spPr>
          <a:xfrm>
            <a:off x="11939841" y="1632795"/>
            <a:ext cx="3434047" cy="4248187"/>
          </a:xfrm>
          <a:prstGeom prst="rect">
            <a:avLst/>
          </a:prstGeom>
          <a:solidFill>
            <a:srgbClr val="33291B">
              <a:alpha val="71765"/>
            </a:srgbClr>
          </a:solidFill>
          <a:ln w="13547">
            <a:solidFill>
              <a:srgbClr val="9F6700">
                <a:alpha val="78824"/>
              </a:srgbClr>
            </a:solidFill>
          </a:ln>
        </p:spPr>
      </p:sp>
      <p:sp>
        <p:nvSpPr>
          <p:cNvPr id="23" name="AutoShape 23"/>
          <p:cNvSpPr/>
          <p:nvPr/>
        </p:nvSpPr>
        <p:spPr>
          <a:xfrm>
            <a:off x="12320225" y="1822009"/>
            <a:ext cx="532575" cy="532575"/>
          </a:xfrm>
          <a:prstGeom prst="roundRect">
            <a:avLst>
              <a:gd name="adj" fmla="val 50000"/>
            </a:avLst>
          </a:prstGeom>
          <a:solidFill>
            <a:srgbClr val="BE7208"/>
          </a:solidFill>
        </p:spPr>
      </p:sp>
      <p:pic>
        <p:nvPicPr>
          <p:cNvPr id="24" name="Picture 24"/>
          <p:cNvPicPr>
            <a:picLocks noChangeAspect="1"/>
          </p:cNvPicPr>
          <p:nvPr/>
        </p:nvPicPr>
        <p:blipFill>
          <a:blip r:embed="rId7"/>
          <a:stretch>
            <a:fillRect/>
          </a:stretch>
        </p:blipFill>
        <p:spPr>
          <a:xfrm>
            <a:off x="12497625" y="1999533"/>
            <a:ext cx="177525" cy="177525"/>
          </a:xfrm>
          <a:prstGeom prst="rect">
            <a:avLst/>
          </a:prstGeom>
        </p:spPr>
      </p:pic>
      <p:sp>
        <p:nvSpPr>
          <p:cNvPr id="25" name="TextBox 25"/>
          <p:cNvSpPr txBox="1"/>
          <p:nvPr/>
        </p:nvSpPr>
        <p:spPr>
          <a:xfrm>
            <a:off x="12208466" y="2532109"/>
            <a:ext cx="2896801" cy="319436"/>
          </a:xfrm>
          <a:prstGeom prst="rect">
            <a:avLst/>
          </a:prstGeom>
          <a:solidFill>
            <a:srgbClr val="000000">
              <a:alpha val="0"/>
            </a:srgbClr>
          </a:solidFill>
        </p:spPr>
        <p:txBody>
          <a:bodyPr lIns="0" tIns="0" rIns="0" bIns="0" rtlCol="0" anchor="ctr"/>
          <a:lstStyle/>
          <a:p>
            <a:pPr indent="0" algn="l">
              <a:lnSpc>
                <a:spcPct val="120000"/>
              </a:lnSpc>
              <a:defRPr/>
            </a:pPr>
            <a:r>
              <a:rPr lang="en-US" sz="2096" b="1">
                <a:solidFill>
                  <a:srgbClr val="FF9D09"/>
                </a:solidFill>
                <a:latin typeface="Belanosima"/>
              </a:rPr>
              <a:t>Secure API design</a:t>
            </a:r>
            <a:endParaRPr lang="en-US" sz="1100"/>
          </a:p>
        </p:txBody>
      </p:sp>
      <p:sp>
        <p:nvSpPr>
          <p:cNvPr id="26" name="TextBox 26"/>
          <p:cNvSpPr txBox="1"/>
          <p:nvPr/>
        </p:nvSpPr>
        <p:spPr>
          <a:xfrm>
            <a:off x="12208466" y="2975740"/>
            <a:ext cx="2896801" cy="1864014"/>
          </a:xfrm>
          <a:prstGeom prst="rect">
            <a:avLst/>
          </a:prstGeom>
          <a:solidFill>
            <a:srgbClr val="000000">
              <a:alpha val="0"/>
            </a:srgbClr>
          </a:solidFill>
        </p:spPr>
        <p:txBody>
          <a:bodyPr lIns="0" tIns="0" rIns="0" bIns="0" rtlCol="0" anchor="ctr"/>
          <a:lstStyle/>
          <a:p>
            <a:pPr indent="0" algn="l">
              <a:lnSpc>
                <a:spcPct val="150000"/>
              </a:lnSpc>
              <a:defRPr/>
            </a:pPr>
            <a:r>
              <a:rPr lang="en-US" sz="1397" b="0">
                <a:solidFill>
                  <a:srgbClr val="D9D9D9"/>
                </a:solidFill>
                <a:latin typeface="Poppins"/>
              </a:rPr>
              <a:t>Build APIs with strict authentication, rate limiting, input validation, and encryption to prevent unauthorized access and data breaches.</a:t>
            </a:r>
            <a:endParaRPr lang="en-US" sz="1100"/>
          </a:p>
        </p:txBody>
      </p:sp>
      <p:sp>
        <p:nvSpPr>
          <p:cNvPr id="27" name="AutoShape 27"/>
          <p:cNvSpPr/>
          <p:nvPr/>
        </p:nvSpPr>
        <p:spPr>
          <a:xfrm>
            <a:off x="882112" y="6058504"/>
            <a:ext cx="7119876" cy="2597313"/>
          </a:xfrm>
          <a:prstGeom prst="rect">
            <a:avLst/>
          </a:prstGeom>
          <a:solidFill>
            <a:srgbClr val="33291B">
              <a:alpha val="71765"/>
            </a:srgbClr>
          </a:solidFill>
          <a:ln w="13547">
            <a:solidFill>
              <a:srgbClr val="9F6700">
                <a:alpha val="78824"/>
              </a:srgbClr>
            </a:solidFill>
          </a:ln>
        </p:spPr>
      </p:sp>
      <p:sp>
        <p:nvSpPr>
          <p:cNvPr id="28" name="AutoShape 28"/>
          <p:cNvSpPr/>
          <p:nvPr/>
        </p:nvSpPr>
        <p:spPr>
          <a:xfrm>
            <a:off x="1262495" y="6247717"/>
            <a:ext cx="532575" cy="532575"/>
          </a:xfrm>
          <a:prstGeom prst="roundRect">
            <a:avLst>
              <a:gd name="adj" fmla="val 50000"/>
            </a:avLst>
          </a:prstGeom>
          <a:solidFill>
            <a:srgbClr val="BE7208"/>
          </a:solidFill>
        </p:spPr>
      </p:sp>
      <p:pic>
        <p:nvPicPr>
          <p:cNvPr id="29" name="Picture 29"/>
          <p:cNvPicPr>
            <a:picLocks noChangeAspect="1"/>
          </p:cNvPicPr>
          <p:nvPr/>
        </p:nvPicPr>
        <p:blipFill>
          <a:blip r:embed="rId8"/>
          <a:stretch>
            <a:fillRect/>
          </a:stretch>
        </p:blipFill>
        <p:spPr>
          <a:xfrm>
            <a:off x="1439893" y="6425241"/>
            <a:ext cx="177525" cy="177525"/>
          </a:xfrm>
          <a:prstGeom prst="rect">
            <a:avLst/>
          </a:prstGeom>
        </p:spPr>
      </p:pic>
      <p:sp>
        <p:nvSpPr>
          <p:cNvPr id="30" name="TextBox 30"/>
          <p:cNvSpPr txBox="1"/>
          <p:nvPr/>
        </p:nvSpPr>
        <p:spPr>
          <a:xfrm>
            <a:off x="1150736" y="6957818"/>
            <a:ext cx="6582630" cy="319436"/>
          </a:xfrm>
          <a:prstGeom prst="rect">
            <a:avLst/>
          </a:prstGeom>
          <a:solidFill>
            <a:srgbClr val="000000">
              <a:alpha val="0"/>
            </a:srgbClr>
          </a:solidFill>
        </p:spPr>
        <p:txBody>
          <a:bodyPr lIns="0" tIns="0" rIns="0" bIns="0" rtlCol="0" anchor="ctr"/>
          <a:lstStyle/>
          <a:p>
            <a:pPr indent="0" algn="l">
              <a:lnSpc>
                <a:spcPct val="120000"/>
              </a:lnSpc>
              <a:defRPr/>
            </a:pPr>
            <a:r>
              <a:rPr lang="en-US" sz="2096" b="1">
                <a:solidFill>
                  <a:srgbClr val="FF9D09"/>
                </a:solidFill>
                <a:latin typeface="Belanosima"/>
              </a:rPr>
              <a:t>Data minimization</a:t>
            </a:r>
            <a:endParaRPr lang="en-US" sz="1100"/>
          </a:p>
        </p:txBody>
      </p:sp>
      <p:sp>
        <p:nvSpPr>
          <p:cNvPr id="31" name="TextBox 31"/>
          <p:cNvSpPr txBox="1"/>
          <p:nvPr/>
        </p:nvSpPr>
        <p:spPr>
          <a:xfrm>
            <a:off x="1150736" y="7401449"/>
            <a:ext cx="6582630" cy="798863"/>
          </a:xfrm>
          <a:prstGeom prst="rect">
            <a:avLst/>
          </a:prstGeom>
          <a:solidFill>
            <a:srgbClr val="000000">
              <a:alpha val="0"/>
            </a:srgbClr>
          </a:solidFill>
        </p:spPr>
        <p:txBody>
          <a:bodyPr lIns="0" tIns="0" rIns="0" bIns="0" rtlCol="0" anchor="ctr"/>
          <a:lstStyle/>
          <a:p>
            <a:pPr indent="0" algn="l">
              <a:lnSpc>
                <a:spcPct val="150000"/>
              </a:lnSpc>
              <a:defRPr/>
            </a:pPr>
            <a:r>
              <a:rPr lang="en-US" sz="1397" b="0">
                <a:solidFill>
                  <a:srgbClr val="D9D9D9"/>
                </a:solidFill>
                <a:latin typeface="Poppins"/>
              </a:rPr>
              <a:t>Collect and store only essential data required for specific purposes, reducing exposure surface and privacy risks through principle of least privilege.</a:t>
            </a:r>
            <a:endParaRPr lang="en-US" sz="1100"/>
          </a:p>
        </p:txBody>
      </p:sp>
      <p:sp>
        <p:nvSpPr>
          <p:cNvPr id="32" name="AutoShape 32"/>
          <p:cNvSpPr/>
          <p:nvPr/>
        </p:nvSpPr>
        <p:spPr>
          <a:xfrm>
            <a:off x="8254012" y="6058504"/>
            <a:ext cx="7119876" cy="2597313"/>
          </a:xfrm>
          <a:prstGeom prst="rect">
            <a:avLst/>
          </a:prstGeom>
          <a:solidFill>
            <a:srgbClr val="33291B">
              <a:alpha val="71765"/>
            </a:srgbClr>
          </a:solidFill>
          <a:ln w="13547">
            <a:solidFill>
              <a:srgbClr val="9F6700">
                <a:alpha val="78824"/>
              </a:srgbClr>
            </a:solidFill>
          </a:ln>
        </p:spPr>
      </p:sp>
      <p:sp>
        <p:nvSpPr>
          <p:cNvPr id="33" name="AutoShape 33"/>
          <p:cNvSpPr/>
          <p:nvPr/>
        </p:nvSpPr>
        <p:spPr>
          <a:xfrm>
            <a:off x="8634396" y="6247717"/>
            <a:ext cx="532575" cy="532575"/>
          </a:xfrm>
          <a:prstGeom prst="roundRect">
            <a:avLst>
              <a:gd name="adj" fmla="val 50000"/>
            </a:avLst>
          </a:prstGeom>
          <a:solidFill>
            <a:srgbClr val="BE7208"/>
          </a:solidFill>
        </p:spPr>
      </p:sp>
      <p:pic>
        <p:nvPicPr>
          <p:cNvPr id="34" name="Picture 34"/>
          <p:cNvPicPr>
            <a:picLocks noChangeAspect="1"/>
          </p:cNvPicPr>
          <p:nvPr/>
        </p:nvPicPr>
        <p:blipFill>
          <a:blip r:embed="rId9"/>
          <a:stretch>
            <a:fillRect/>
          </a:stretch>
        </p:blipFill>
        <p:spPr>
          <a:xfrm>
            <a:off x="8811924" y="6425241"/>
            <a:ext cx="177525" cy="177525"/>
          </a:xfrm>
          <a:prstGeom prst="rect">
            <a:avLst/>
          </a:prstGeom>
        </p:spPr>
      </p:pic>
      <p:sp>
        <p:nvSpPr>
          <p:cNvPr id="35" name="TextBox 35"/>
          <p:cNvSpPr txBox="1"/>
          <p:nvPr/>
        </p:nvSpPr>
        <p:spPr>
          <a:xfrm>
            <a:off x="8522637" y="6957818"/>
            <a:ext cx="6582630" cy="319436"/>
          </a:xfrm>
          <a:prstGeom prst="rect">
            <a:avLst/>
          </a:prstGeom>
          <a:solidFill>
            <a:srgbClr val="000000">
              <a:alpha val="0"/>
            </a:srgbClr>
          </a:solidFill>
        </p:spPr>
        <p:txBody>
          <a:bodyPr lIns="0" tIns="0" rIns="0" bIns="0" rtlCol="0" anchor="ctr"/>
          <a:lstStyle/>
          <a:p>
            <a:pPr indent="0" algn="l">
              <a:lnSpc>
                <a:spcPct val="120000"/>
              </a:lnSpc>
              <a:defRPr/>
            </a:pPr>
            <a:r>
              <a:rPr lang="en-US" sz="2096" b="1">
                <a:solidFill>
                  <a:srgbClr val="FF9D09"/>
                </a:solidFill>
                <a:latin typeface="Belanosima"/>
              </a:rPr>
              <a:t>Pen-testing &amp; audits</a:t>
            </a:r>
            <a:endParaRPr lang="en-US" sz="1100"/>
          </a:p>
        </p:txBody>
      </p:sp>
      <p:sp>
        <p:nvSpPr>
          <p:cNvPr id="36" name="TextBox 36"/>
          <p:cNvSpPr txBox="1"/>
          <p:nvPr/>
        </p:nvSpPr>
        <p:spPr>
          <a:xfrm>
            <a:off x="8522637" y="7401449"/>
            <a:ext cx="6582630" cy="1065151"/>
          </a:xfrm>
          <a:prstGeom prst="rect">
            <a:avLst/>
          </a:prstGeom>
          <a:solidFill>
            <a:srgbClr val="000000">
              <a:alpha val="0"/>
            </a:srgbClr>
          </a:solidFill>
        </p:spPr>
        <p:txBody>
          <a:bodyPr lIns="0" tIns="0" rIns="0" bIns="0" rtlCol="0" anchor="ctr"/>
          <a:lstStyle/>
          <a:p>
            <a:pPr indent="0" algn="l">
              <a:lnSpc>
                <a:spcPct val="150000"/>
              </a:lnSpc>
              <a:defRPr/>
            </a:pPr>
            <a:r>
              <a:rPr lang="en-US" sz="1397" b="0">
                <a:solidFill>
                  <a:srgbClr val="D9D9D9"/>
                </a:solidFill>
                <a:latin typeface="Poppins"/>
              </a:rPr>
              <a:t>Conduct regular security assessments and penetration tests to identify vulnerabilities, validate controls, and ensure compliance with privacy standards.</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a:ln w="13547">
            <a:solidFill>
              <a:srgbClr val="B46F00"/>
            </a:solidFill>
          </a:ln>
        </p:spPr>
      </p:sp>
      <p:pic>
        <p:nvPicPr>
          <p:cNvPr id="3" name="Picture 3"/>
          <p:cNvPicPr>
            <a:picLocks noChangeAspect="1"/>
          </p:cNvPicPr>
          <p:nvPr/>
        </p:nvPicPr>
        <p:blipFill>
          <a:blip r:embed="rId3"/>
          <a:srcRect t="74" b="74"/>
          <a:stretch>
            <a:fillRect/>
          </a:stretch>
        </p:blipFill>
        <p:spPr>
          <a:xfrm>
            <a:off x="0" y="0"/>
            <a:ext cx="16256000" cy="9144000"/>
          </a:xfrm>
          <a:prstGeom prst="rect">
            <a:avLst/>
          </a:prstGeom>
        </p:spPr>
      </p:pic>
      <p:sp>
        <p:nvSpPr>
          <p:cNvPr id="4" name="TextBox 4"/>
          <p:cNvSpPr txBox="1"/>
          <p:nvPr/>
        </p:nvSpPr>
        <p:spPr>
          <a:xfrm>
            <a:off x="882112" y="598598"/>
            <a:ext cx="14491783" cy="522233"/>
          </a:xfrm>
          <a:prstGeom prst="rect">
            <a:avLst/>
          </a:prstGeom>
          <a:solidFill>
            <a:srgbClr val="000000">
              <a:alpha val="0"/>
            </a:srgbClr>
          </a:solidFill>
        </p:spPr>
        <p:txBody>
          <a:bodyPr lIns="0" tIns="0" rIns="0" bIns="0" rtlCol="0" anchor="ctr"/>
          <a:lstStyle/>
          <a:p>
            <a:pPr indent="0" algn="l">
              <a:lnSpc>
                <a:spcPct val="120000"/>
              </a:lnSpc>
              <a:defRPr/>
            </a:pPr>
            <a:r>
              <a:rPr lang="en-US" sz="3427" b="1">
                <a:solidFill>
                  <a:srgbClr val="FF9D09"/>
                </a:solidFill>
                <a:latin typeface="Belanosima"/>
              </a:rPr>
              <a:t>Policy Solutions</a:t>
            </a:r>
            <a:endParaRPr lang="en-US" sz="1100"/>
          </a:p>
        </p:txBody>
      </p:sp>
      <p:sp>
        <p:nvSpPr>
          <p:cNvPr id="5" name="TextBox 5"/>
          <p:cNvSpPr txBox="1"/>
          <p:nvPr/>
        </p:nvSpPr>
        <p:spPr>
          <a:xfrm>
            <a:off x="882112" y="1365599"/>
            <a:ext cx="14491783" cy="391675"/>
          </a:xfrm>
          <a:prstGeom prst="rect">
            <a:avLst/>
          </a:prstGeom>
          <a:solidFill>
            <a:srgbClr val="000000">
              <a:alpha val="0"/>
            </a:srgbClr>
          </a:solidFill>
        </p:spPr>
        <p:txBody>
          <a:bodyPr lIns="0" tIns="0" rIns="0" bIns="0" rtlCol="0" anchor="ctr"/>
          <a:lstStyle/>
          <a:p>
            <a:pPr indent="0" algn="l">
              <a:lnSpc>
                <a:spcPct val="120000"/>
              </a:lnSpc>
              <a:defRPr/>
            </a:pPr>
            <a:r>
              <a:rPr lang="en-US" sz="2570" b="1">
                <a:solidFill>
                  <a:srgbClr val="FF9D09"/>
                </a:solidFill>
                <a:latin typeface="Belanosima"/>
              </a:rPr>
              <a:t>Fixing Privacy at the Governance Level</a:t>
            </a:r>
            <a:endParaRPr lang="en-US" sz="1100"/>
          </a:p>
        </p:txBody>
      </p:sp>
      <p:sp>
        <p:nvSpPr>
          <p:cNvPr id="6" name="AutoShape 6"/>
          <p:cNvSpPr/>
          <p:nvPr/>
        </p:nvSpPr>
        <p:spPr>
          <a:xfrm>
            <a:off x="882112" y="2002043"/>
            <a:ext cx="14491783" cy="6543360"/>
          </a:xfrm>
          <a:prstGeom prst="rect">
            <a:avLst/>
          </a:prstGeom>
          <a:solidFill>
            <a:srgbClr val="000000">
              <a:alpha val="0"/>
            </a:srgbClr>
          </a:solidFill>
        </p:spPr>
      </p:sp>
      <p:sp>
        <p:nvSpPr>
          <p:cNvPr id="7" name="AutoShape 7"/>
          <p:cNvSpPr/>
          <p:nvPr/>
        </p:nvSpPr>
        <p:spPr>
          <a:xfrm>
            <a:off x="882112" y="2002043"/>
            <a:ext cx="3433798" cy="4664719"/>
          </a:xfrm>
          <a:prstGeom prst="rect">
            <a:avLst/>
          </a:prstGeom>
          <a:solidFill>
            <a:srgbClr val="33291B">
              <a:alpha val="71765"/>
            </a:srgbClr>
          </a:solidFill>
          <a:ln w="13547">
            <a:solidFill>
              <a:srgbClr val="9F6700">
                <a:alpha val="78824"/>
              </a:srgbClr>
            </a:solidFill>
          </a:ln>
        </p:spPr>
      </p:sp>
      <p:sp>
        <p:nvSpPr>
          <p:cNvPr id="8" name="TextBox 8"/>
          <p:cNvSpPr txBox="1"/>
          <p:nvPr/>
        </p:nvSpPr>
        <p:spPr>
          <a:xfrm>
            <a:off x="1150736" y="2234046"/>
            <a:ext cx="2896536" cy="783350"/>
          </a:xfrm>
          <a:prstGeom prst="rect">
            <a:avLst/>
          </a:prstGeom>
          <a:solidFill>
            <a:srgbClr val="000000">
              <a:alpha val="0"/>
            </a:srgbClr>
          </a:solidFill>
        </p:spPr>
        <p:txBody>
          <a:bodyPr lIns="0" tIns="0" rIns="0" bIns="0" rtlCol="0" anchor="ctr"/>
          <a:lstStyle/>
          <a:p>
            <a:pPr indent="0" algn="l">
              <a:lnSpc>
                <a:spcPct val="120000"/>
              </a:lnSpc>
              <a:defRPr/>
            </a:pPr>
            <a:r>
              <a:rPr lang="en-US" sz="2570" b="1">
                <a:solidFill>
                  <a:srgbClr val="FF9D09"/>
                </a:solidFill>
                <a:latin typeface="Belanosima"/>
              </a:rPr>
              <a:t>GDPR &amp; CCPA Enforcement</a:t>
            </a:r>
            <a:endParaRPr lang="en-US" sz="1100"/>
          </a:p>
        </p:txBody>
      </p:sp>
      <p:sp>
        <p:nvSpPr>
          <p:cNvPr id="9" name="TextBox 9"/>
          <p:cNvSpPr txBox="1"/>
          <p:nvPr/>
        </p:nvSpPr>
        <p:spPr>
          <a:xfrm>
            <a:off x="1150736" y="3169675"/>
            <a:ext cx="2896536" cy="2612061"/>
          </a:xfrm>
          <a:prstGeom prst="rect">
            <a:avLst/>
          </a:prstGeom>
          <a:solidFill>
            <a:srgbClr val="000000">
              <a:alpha val="0"/>
            </a:srgbClr>
          </a:solidFill>
        </p:spPr>
        <p:txBody>
          <a:bodyPr lIns="0" tIns="0" rIns="0" bIns="0" rtlCol="0" anchor="ctr"/>
          <a:lstStyle/>
          <a:p>
            <a:pPr indent="0" algn="l">
              <a:lnSpc>
                <a:spcPct val="150000"/>
              </a:lnSpc>
              <a:defRPr/>
            </a:pPr>
            <a:r>
              <a:rPr lang="en-US" sz="1713" b="0">
                <a:solidFill>
                  <a:srgbClr val="D9D9D9"/>
                </a:solidFill>
                <a:latin typeface="Poppins"/>
              </a:rPr>
              <a:t>Strict regulatory compliance with global data protection standards, ensuring organizations meet all legal requirements and avoid substantial fines</a:t>
            </a:r>
            <a:endParaRPr lang="en-US" sz="1100"/>
          </a:p>
        </p:txBody>
      </p:sp>
      <p:sp>
        <p:nvSpPr>
          <p:cNvPr id="10" name="AutoShape 10"/>
          <p:cNvSpPr/>
          <p:nvPr/>
        </p:nvSpPr>
        <p:spPr>
          <a:xfrm>
            <a:off x="4567940" y="2002043"/>
            <a:ext cx="3434047" cy="4664719"/>
          </a:xfrm>
          <a:prstGeom prst="rect">
            <a:avLst/>
          </a:prstGeom>
          <a:solidFill>
            <a:srgbClr val="33291B">
              <a:alpha val="71765"/>
            </a:srgbClr>
          </a:solidFill>
          <a:ln w="13547">
            <a:solidFill>
              <a:srgbClr val="9F6700">
                <a:alpha val="78824"/>
              </a:srgbClr>
            </a:solidFill>
          </a:ln>
        </p:spPr>
      </p:sp>
      <p:sp>
        <p:nvSpPr>
          <p:cNvPr id="11" name="TextBox 11"/>
          <p:cNvSpPr txBox="1"/>
          <p:nvPr/>
        </p:nvSpPr>
        <p:spPr>
          <a:xfrm>
            <a:off x="4836565" y="2234046"/>
            <a:ext cx="2896801" cy="783350"/>
          </a:xfrm>
          <a:prstGeom prst="rect">
            <a:avLst/>
          </a:prstGeom>
          <a:solidFill>
            <a:srgbClr val="000000">
              <a:alpha val="0"/>
            </a:srgbClr>
          </a:solidFill>
        </p:spPr>
        <p:txBody>
          <a:bodyPr lIns="0" tIns="0" rIns="0" bIns="0" rtlCol="0" anchor="ctr"/>
          <a:lstStyle/>
          <a:p>
            <a:pPr indent="0" algn="l">
              <a:lnSpc>
                <a:spcPct val="120000"/>
              </a:lnSpc>
              <a:defRPr/>
            </a:pPr>
            <a:r>
              <a:rPr lang="en-US" sz="2570" b="1">
                <a:solidFill>
                  <a:srgbClr val="FF9D09"/>
                </a:solidFill>
                <a:latin typeface="Belanosima"/>
              </a:rPr>
              <a:t>Transparency Reports</a:t>
            </a:r>
            <a:endParaRPr lang="en-US" sz="1100"/>
          </a:p>
        </p:txBody>
      </p:sp>
      <p:sp>
        <p:nvSpPr>
          <p:cNvPr id="12" name="TextBox 12"/>
          <p:cNvSpPr txBox="1"/>
          <p:nvPr/>
        </p:nvSpPr>
        <p:spPr>
          <a:xfrm>
            <a:off x="4836565" y="3169675"/>
            <a:ext cx="2896801" cy="3265076"/>
          </a:xfrm>
          <a:prstGeom prst="rect">
            <a:avLst/>
          </a:prstGeom>
          <a:solidFill>
            <a:srgbClr val="000000">
              <a:alpha val="0"/>
            </a:srgbClr>
          </a:solidFill>
        </p:spPr>
        <p:txBody>
          <a:bodyPr lIns="0" tIns="0" rIns="0" bIns="0" rtlCol="0" anchor="ctr"/>
          <a:lstStyle/>
          <a:p>
            <a:pPr indent="0" algn="l">
              <a:lnSpc>
                <a:spcPct val="150000"/>
              </a:lnSpc>
              <a:defRPr/>
            </a:pPr>
            <a:r>
              <a:rPr lang="en-US" sz="1713" b="0">
                <a:solidFill>
                  <a:srgbClr val="D9D9D9"/>
                </a:solidFill>
                <a:latin typeface="Poppins"/>
              </a:rPr>
              <a:t>Comprehensive documentation of data handling practices, enabling organizations and users to understand how personal information is collected and processed</a:t>
            </a:r>
            <a:endParaRPr lang="en-US" sz="1100"/>
          </a:p>
        </p:txBody>
      </p:sp>
      <p:sp>
        <p:nvSpPr>
          <p:cNvPr id="13" name="AutoShape 13"/>
          <p:cNvSpPr/>
          <p:nvPr/>
        </p:nvSpPr>
        <p:spPr>
          <a:xfrm>
            <a:off x="8254012" y="2002043"/>
            <a:ext cx="3433798" cy="4664719"/>
          </a:xfrm>
          <a:prstGeom prst="rect">
            <a:avLst/>
          </a:prstGeom>
          <a:solidFill>
            <a:srgbClr val="33291B">
              <a:alpha val="71765"/>
            </a:srgbClr>
          </a:solidFill>
          <a:ln w="13547">
            <a:solidFill>
              <a:srgbClr val="9F6700">
                <a:alpha val="78824"/>
              </a:srgbClr>
            </a:solidFill>
          </a:ln>
        </p:spPr>
      </p:sp>
      <p:sp>
        <p:nvSpPr>
          <p:cNvPr id="14" name="TextBox 14"/>
          <p:cNvSpPr txBox="1"/>
          <p:nvPr/>
        </p:nvSpPr>
        <p:spPr>
          <a:xfrm>
            <a:off x="8522637" y="2234046"/>
            <a:ext cx="2896536" cy="783350"/>
          </a:xfrm>
          <a:prstGeom prst="rect">
            <a:avLst/>
          </a:prstGeom>
          <a:solidFill>
            <a:srgbClr val="000000">
              <a:alpha val="0"/>
            </a:srgbClr>
          </a:solidFill>
        </p:spPr>
        <p:txBody>
          <a:bodyPr lIns="0" tIns="0" rIns="0" bIns="0" rtlCol="0" anchor="ctr"/>
          <a:lstStyle/>
          <a:p>
            <a:pPr indent="0" algn="l">
              <a:lnSpc>
                <a:spcPct val="120000"/>
              </a:lnSpc>
              <a:defRPr/>
            </a:pPr>
            <a:r>
              <a:rPr lang="en-US" sz="2570" b="1">
                <a:solidFill>
                  <a:srgbClr val="FF9D09"/>
                </a:solidFill>
                <a:latin typeface="Belanosima"/>
              </a:rPr>
              <a:t>Data Retention Limits</a:t>
            </a:r>
            <a:endParaRPr lang="en-US" sz="1100"/>
          </a:p>
        </p:txBody>
      </p:sp>
      <p:sp>
        <p:nvSpPr>
          <p:cNvPr id="15" name="TextBox 15"/>
          <p:cNvSpPr txBox="1"/>
          <p:nvPr/>
        </p:nvSpPr>
        <p:spPr>
          <a:xfrm>
            <a:off x="8522637" y="3169675"/>
            <a:ext cx="2896536" cy="2285553"/>
          </a:xfrm>
          <a:prstGeom prst="rect">
            <a:avLst/>
          </a:prstGeom>
          <a:solidFill>
            <a:srgbClr val="000000">
              <a:alpha val="0"/>
            </a:srgbClr>
          </a:solidFill>
        </p:spPr>
        <p:txBody>
          <a:bodyPr lIns="0" tIns="0" rIns="0" bIns="0" rtlCol="0" anchor="ctr"/>
          <a:lstStyle/>
          <a:p>
            <a:pPr indent="0" algn="l">
              <a:lnSpc>
                <a:spcPct val="150000"/>
              </a:lnSpc>
              <a:defRPr/>
            </a:pPr>
            <a:r>
              <a:rPr lang="en-US" sz="1713" b="0">
                <a:solidFill>
                  <a:srgbClr val="D9D9D9"/>
                </a:solidFill>
                <a:latin typeface="Poppins"/>
              </a:rPr>
              <a:t>Enforced time-based deletion policies that prevent indefinite data storage, reducing privacy risks and unnecessary data accumulation</a:t>
            </a:r>
            <a:endParaRPr lang="en-US" sz="1100"/>
          </a:p>
        </p:txBody>
      </p:sp>
      <p:sp>
        <p:nvSpPr>
          <p:cNvPr id="16" name="AutoShape 16"/>
          <p:cNvSpPr/>
          <p:nvPr/>
        </p:nvSpPr>
        <p:spPr>
          <a:xfrm>
            <a:off x="11939841" y="2002043"/>
            <a:ext cx="3434047" cy="4664719"/>
          </a:xfrm>
          <a:prstGeom prst="rect">
            <a:avLst/>
          </a:prstGeom>
          <a:solidFill>
            <a:srgbClr val="33291B">
              <a:alpha val="71765"/>
            </a:srgbClr>
          </a:solidFill>
          <a:ln w="13547">
            <a:solidFill>
              <a:srgbClr val="9F6700">
                <a:alpha val="78824"/>
              </a:srgbClr>
            </a:solidFill>
          </a:ln>
        </p:spPr>
      </p:sp>
      <p:sp>
        <p:nvSpPr>
          <p:cNvPr id="17" name="TextBox 17"/>
          <p:cNvSpPr txBox="1"/>
          <p:nvPr/>
        </p:nvSpPr>
        <p:spPr>
          <a:xfrm>
            <a:off x="12208466" y="2234046"/>
            <a:ext cx="2896801" cy="783350"/>
          </a:xfrm>
          <a:prstGeom prst="rect">
            <a:avLst/>
          </a:prstGeom>
          <a:solidFill>
            <a:srgbClr val="000000">
              <a:alpha val="0"/>
            </a:srgbClr>
          </a:solidFill>
        </p:spPr>
        <p:txBody>
          <a:bodyPr lIns="0" tIns="0" rIns="0" bIns="0" rtlCol="0" anchor="ctr"/>
          <a:lstStyle/>
          <a:p>
            <a:pPr indent="0" algn="l">
              <a:lnSpc>
                <a:spcPct val="120000"/>
              </a:lnSpc>
              <a:defRPr/>
            </a:pPr>
            <a:r>
              <a:rPr lang="en-US" sz="2570" b="1">
                <a:solidFill>
                  <a:srgbClr val="FF9D09"/>
                </a:solidFill>
                <a:latin typeface="Belanosima"/>
              </a:rPr>
              <a:t>Independent Audits</a:t>
            </a:r>
            <a:endParaRPr lang="en-US" sz="1100"/>
          </a:p>
        </p:txBody>
      </p:sp>
      <p:sp>
        <p:nvSpPr>
          <p:cNvPr id="18" name="TextBox 18"/>
          <p:cNvSpPr txBox="1"/>
          <p:nvPr/>
        </p:nvSpPr>
        <p:spPr>
          <a:xfrm>
            <a:off x="12208466" y="3169675"/>
            <a:ext cx="2896801" cy="2612061"/>
          </a:xfrm>
          <a:prstGeom prst="rect">
            <a:avLst/>
          </a:prstGeom>
          <a:solidFill>
            <a:srgbClr val="000000">
              <a:alpha val="0"/>
            </a:srgbClr>
          </a:solidFill>
        </p:spPr>
        <p:txBody>
          <a:bodyPr lIns="0" tIns="0" rIns="0" bIns="0" rtlCol="0" anchor="ctr"/>
          <a:lstStyle/>
          <a:p>
            <a:pPr indent="0" algn="l">
              <a:lnSpc>
                <a:spcPct val="150000"/>
              </a:lnSpc>
              <a:defRPr/>
            </a:pPr>
            <a:r>
              <a:rPr lang="en-US" sz="1713" b="0">
                <a:solidFill>
                  <a:srgbClr val="D9D9D9"/>
                </a:solidFill>
                <a:latin typeface="Poppins"/>
              </a:rPr>
              <a:t>Regular third-party verification of privacy practices and compliance measures, providing objective assessment and accountability to stakeholders</a:t>
            </a:r>
            <a:endParaRPr lang="en-US" sz="1100"/>
          </a:p>
        </p:txBody>
      </p:sp>
      <p:sp>
        <p:nvSpPr>
          <p:cNvPr id="19" name="AutoShape 19"/>
          <p:cNvSpPr/>
          <p:nvPr/>
        </p:nvSpPr>
        <p:spPr>
          <a:xfrm>
            <a:off x="882112" y="6884429"/>
            <a:ext cx="14491783" cy="1660983"/>
          </a:xfrm>
          <a:prstGeom prst="rect">
            <a:avLst/>
          </a:prstGeom>
          <a:solidFill>
            <a:srgbClr val="33291B">
              <a:alpha val="71765"/>
            </a:srgbClr>
          </a:solidFill>
          <a:ln w="13547">
            <a:solidFill>
              <a:srgbClr val="9F6700">
                <a:alpha val="78824"/>
              </a:srgbClr>
            </a:solidFill>
          </a:ln>
        </p:spPr>
      </p:sp>
      <p:sp>
        <p:nvSpPr>
          <p:cNvPr id="20" name="TextBox 20"/>
          <p:cNvSpPr txBox="1"/>
          <p:nvPr/>
        </p:nvSpPr>
        <p:spPr>
          <a:xfrm>
            <a:off x="1150736" y="7116432"/>
            <a:ext cx="13954537" cy="391675"/>
          </a:xfrm>
          <a:prstGeom prst="rect">
            <a:avLst/>
          </a:prstGeom>
          <a:solidFill>
            <a:srgbClr val="000000">
              <a:alpha val="0"/>
            </a:srgbClr>
          </a:solidFill>
        </p:spPr>
        <p:txBody>
          <a:bodyPr lIns="0" tIns="0" rIns="0" bIns="0" rtlCol="0" anchor="ctr"/>
          <a:lstStyle/>
          <a:p>
            <a:pPr indent="0" algn="l">
              <a:lnSpc>
                <a:spcPct val="120000"/>
              </a:lnSpc>
              <a:defRPr/>
            </a:pPr>
            <a:r>
              <a:rPr lang="en-US" sz="2570" b="1">
                <a:solidFill>
                  <a:srgbClr val="FF9D09"/>
                </a:solidFill>
                <a:latin typeface="Belanosima"/>
              </a:rPr>
              <a:t>Clear Consent Requirements</a:t>
            </a:r>
            <a:endParaRPr lang="en-US" sz="1100"/>
          </a:p>
        </p:txBody>
      </p:sp>
      <p:sp>
        <p:nvSpPr>
          <p:cNvPr id="21" name="TextBox 21"/>
          <p:cNvSpPr txBox="1"/>
          <p:nvPr/>
        </p:nvSpPr>
        <p:spPr>
          <a:xfrm>
            <a:off x="1150736" y="7660388"/>
            <a:ext cx="13954537" cy="653015"/>
          </a:xfrm>
          <a:prstGeom prst="rect">
            <a:avLst/>
          </a:prstGeom>
          <a:solidFill>
            <a:srgbClr val="000000">
              <a:alpha val="0"/>
            </a:srgbClr>
          </a:solidFill>
        </p:spPr>
        <p:txBody>
          <a:bodyPr lIns="0" tIns="0" rIns="0" bIns="0" rtlCol="0" anchor="ctr"/>
          <a:lstStyle/>
          <a:p>
            <a:pPr indent="0" algn="l">
              <a:lnSpc>
                <a:spcPct val="150000"/>
              </a:lnSpc>
              <a:defRPr/>
            </a:pPr>
            <a:r>
              <a:rPr lang="en-US" sz="1713" b="0">
                <a:solidFill>
                  <a:srgbClr val="D9D9D9"/>
                </a:solidFill>
                <a:latin typeface="Poppins"/>
              </a:rPr>
              <a:t>Explicit user authorization mechanisms ensuring individuals maintain control over their personal data and understand data usage purposes</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a:ln w="13547">
            <a:solidFill>
              <a:srgbClr val="B46F00"/>
            </a:solidFill>
          </a:ln>
        </p:spPr>
      </p:sp>
      <p:pic>
        <p:nvPicPr>
          <p:cNvPr id="3" name="Picture 3"/>
          <p:cNvPicPr>
            <a:picLocks noChangeAspect="1"/>
          </p:cNvPicPr>
          <p:nvPr/>
        </p:nvPicPr>
        <p:blipFill>
          <a:blip r:embed="rId3"/>
          <a:srcRect t="74" b="74"/>
          <a:stretch>
            <a:fillRect/>
          </a:stretch>
        </p:blipFill>
        <p:spPr>
          <a:xfrm>
            <a:off x="0" y="0"/>
            <a:ext cx="16256000" cy="9144000"/>
          </a:xfrm>
          <a:prstGeom prst="rect">
            <a:avLst/>
          </a:prstGeom>
        </p:spPr>
      </p:pic>
      <p:sp>
        <p:nvSpPr>
          <p:cNvPr id="4" name="TextBox 4"/>
          <p:cNvSpPr txBox="1"/>
          <p:nvPr/>
        </p:nvSpPr>
        <p:spPr>
          <a:xfrm>
            <a:off x="882112" y="1399150"/>
            <a:ext cx="14491783" cy="604674"/>
          </a:xfrm>
          <a:prstGeom prst="rect">
            <a:avLst/>
          </a:prstGeom>
          <a:solidFill>
            <a:srgbClr val="000000">
              <a:alpha val="0"/>
            </a:srgbClr>
          </a:solidFill>
        </p:spPr>
        <p:txBody>
          <a:bodyPr lIns="0" tIns="0" rIns="0" bIns="0" rtlCol="0" anchor="ctr"/>
          <a:lstStyle/>
          <a:p>
            <a:pPr indent="0" algn="l">
              <a:lnSpc>
                <a:spcPct val="120000"/>
              </a:lnSpc>
              <a:defRPr/>
            </a:pPr>
            <a:r>
              <a:rPr lang="en-US" sz="3968" b="1">
                <a:solidFill>
                  <a:srgbClr val="FF9D09"/>
                </a:solidFill>
                <a:latin typeface="Belanosima"/>
              </a:rPr>
              <a:t>Your Analysis</a:t>
            </a:r>
            <a:endParaRPr lang="en-US" sz="1100"/>
          </a:p>
        </p:txBody>
      </p:sp>
      <p:sp>
        <p:nvSpPr>
          <p:cNvPr id="5" name="TextBox 5"/>
          <p:cNvSpPr txBox="1"/>
          <p:nvPr/>
        </p:nvSpPr>
        <p:spPr>
          <a:xfrm>
            <a:off x="882112" y="2287231"/>
            <a:ext cx="14491783" cy="453505"/>
          </a:xfrm>
          <a:prstGeom prst="rect">
            <a:avLst/>
          </a:prstGeom>
          <a:solidFill>
            <a:srgbClr val="000000">
              <a:alpha val="0"/>
            </a:srgbClr>
          </a:solidFill>
        </p:spPr>
        <p:txBody>
          <a:bodyPr lIns="0" tIns="0" rIns="0" bIns="0" rtlCol="0" anchor="ctr"/>
          <a:lstStyle/>
          <a:p>
            <a:pPr indent="0" algn="l">
              <a:lnSpc>
                <a:spcPct val="120000"/>
              </a:lnSpc>
              <a:defRPr/>
            </a:pPr>
            <a:r>
              <a:rPr lang="en-US" sz="2976" b="1">
                <a:solidFill>
                  <a:srgbClr val="FF9D09"/>
                </a:solidFill>
                <a:latin typeface="Belanosima"/>
              </a:rPr>
              <a:t>Privacy Fails by Design, Not Accident</a:t>
            </a:r>
            <a:endParaRPr lang="en-US" sz="1100"/>
          </a:p>
        </p:txBody>
      </p:sp>
      <p:sp>
        <p:nvSpPr>
          <p:cNvPr id="6" name="AutoShape 6"/>
          <p:cNvSpPr/>
          <p:nvPr/>
        </p:nvSpPr>
        <p:spPr>
          <a:xfrm>
            <a:off x="882112" y="3024144"/>
            <a:ext cx="14491783" cy="4720451"/>
          </a:xfrm>
          <a:prstGeom prst="rect">
            <a:avLst/>
          </a:prstGeom>
          <a:solidFill>
            <a:srgbClr val="000000">
              <a:alpha val="0"/>
            </a:srgbClr>
          </a:solidFill>
        </p:spPr>
      </p:sp>
      <p:sp>
        <p:nvSpPr>
          <p:cNvPr id="7" name="AutoShape 7"/>
          <p:cNvSpPr/>
          <p:nvPr/>
        </p:nvSpPr>
        <p:spPr>
          <a:xfrm>
            <a:off x="882112" y="3024144"/>
            <a:ext cx="3433798" cy="4720451"/>
          </a:xfrm>
          <a:prstGeom prst="rect">
            <a:avLst/>
          </a:prstGeom>
          <a:solidFill>
            <a:srgbClr val="000000">
              <a:alpha val="0"/>
            </a:srgbClr>
          </a:solidFill>
          <a:ln w="13547">
            <a:solidFill>
              <a:srgbClr val="9F6700">
                <a:alpha val="78824"/>
              </a:srgbClr>
            </a:solidFill>
          </a:ln>
        </p:spPr>
      </p:sp>
      <p:sp>
        <p:nvSpPr>
          <p:cNvPr id="8" name="TextBox 8"/>
          <p:cNvSpPr txBox="1"/>
          <p:nvPr/>
        </p:nvSpPr>
        <p:spPr>
          <a:xfrm>
            <a:off x="1150736" y="3292772"/>
            <a:ext cx="2896536" cy="1360515"/>
          </a:xfrm>
          <a:prstGeom prst="rect">
            <a:avLst/>
          </a:prstGeom>
          <a:solidFill>
            <a:srgbClr val="000000">
              <a:alpha val="0"/>
            </a:srgbClr>
          </a:solidFill>
        </p:spPr>
        <p:txBody>
          <a:bodyPr lIns="0" tIns="0" rIns="0" bIns="0" rtlCol="0" anchor="ctr"/>
          <a:lstStyle/>
          <a:p>
            <a:pPr indent="0" algn="l">
              <a:lnSpc>
                <a:spcPct val="120000"/>
              </a:lnSpc>
              <a:defRPr/>
            </a:pPr>
            <a:r>
              <a:rPr lang="en-US" sz="2976" b="1">
                <a:solidFill>
                  <a:srgbClr val="FF9D09"/>
                </a:solidFill>
                <a:latin typeface="Belanosima"/>
              </a:rPr>
              <a:t>Companies Choose to Collect Too Much</a:t>
            </a:r>
            <a:endParaRPr lang="en-US" sz="1100"/>
          </a:p>
        </p:txBody>
      </p:sp>
      <p:sp>
        <p:nvSpPr>
          <p:cNvPr id="9" name="TextBox 9"/>
          <p:cNvSpPr txBox="1"/>
          <p:nvPr/>
        </p:nvSpPr>
        <p:spPr>
          <a:xfrm>
            <a:off x="1150736" y="4829609"/>
            <a:ext cx="2896536" cy="2646354"/>
          </a:xfrm>
          <a:prstGeom prst="rect">
            <a:avLst/>
          </a:prstGeom>
          <a:solidFill>
            <a:srgbClr val="000000">
              <a:alpha val="0"/>
            </a:srgbClr>
          </a:solidFill>
        </p:spPr>
        <p:txBody>
          <a:bodyPr lIns="0" tIns="0" rIns="0" bIns="0" rtlCol="0" anchor="ctr"/>
          <a:lstStyle/>
          <a:p>
            <a:pPr indent="0" algn="l">
              <a:lnSpc>
                <a:spcPct val="150000"/>
              </a:lnSpc>
              <a:defRPr/>
            </a:pPr>
            <a:r>
              <a:rPr lang="en-US" sz="1984" b="0">
                <a:solidFill>
                  <a:srgbClr val="D9D9D9"/>
                </a:solidFill>
                <a:latin typeface="Poppins"/>
              </a:rPr>
              <a:t>Organizations prioritize data accumulation over user needs, collecting information far beyond what is necessary for service delivery.</a:t>
            </a:r>
            <a:endParaRPr lang="en-US" sz="1100"/>
          </a:p>
        </p:txBody>
      </p:sp>
      <p:sp>
        <p:nvSpPr>
          <p:cNvPr id="10" name="AutoShape 10"/>
          <p:cNvSpPr/>
          <p:nvPr/>
        </p:nvSpPr>
        <p:spPr>
          <a:xfrm>
            <a:off x="4567940" y="3024144"/>
            <a:ext cx="3434047" cy="4720451"/>
          </a:xfrm>
          <a:prstGeom prst="rect">
            <a:avLst/>
          </a:prstGeom>
          <a:solidFill>
            <a:srgbClr val="000000">
              <a:alpha val="0"/>
            </a:srgbClr>
          </a:solidFill>
          <a:ln w="13547">
            <a:solidFill>
              <a:srgbClr val="9F6700">
                <a:alpha val="78824"/>
              </a:srgbClr>
            </a:solidFill>
          </a:ln>
        </p:spPr>
      </p:sp>
      <p:sp>
        <p:nvSpPr>
          <p:cNvPr id="11" name="TextBox 11"/>
          <p:cNvSpPr txBox="1"/>
          <p:nvPr/>
        </p:nvSpPr>
        <p:spPr>
          <a:xfrm>
            <a:off x="4836565" y="3292772"/>
            <a:ext cx="2896801" cy="1360515"/>
          </a:xfrm>
          <a:prstGeom prst="rect">
            <a:avLst/>
          </a:prstGeom>
          <a:solidFill>
            <a:srgbClr val="000000">
              <a:alpha val="0"/>
            </a:srgbClr>
          </a:solidFill>
        </p:spPr>
        <p:txBody>
          <a:bodyPr lIns="0" tIns="0" rIns="0" bIns="0" rtlCol="0" anchor="ctr"/>
          <a:lstStyle/>
          <a:p>
            <a:pPr indent="0" algn="l">
              <a:lnSpc>
                <a:spcPct val="120000"/>
              </a:lnSpc>
              <a:defRPr/>
            </a:pPr>
            <a:r>
              <a:rPr lang="en-US" sz="2976" b="1">
                <a:solidFill>
                  <a:srgbClr val="FF9D09"/>
                </a:solidFill>
                <a:latin typeface="Belanosima"/>
              </a:rPr>
              <a:t>Users Can't Protect Themselves</a:t>
            </a:r>
            <a:endParaRPr lang="en-US" sz="1100"/>
          </a:p>
        </p:txBody>
      </p:sp>
      <p:sp>
        <p:nvSpPr>
          <p:cNvPr id="12" name="TextBox 12"/>
          <p:cNvSpPr txBox="1"/>
          <p:nvPr/>
        </p:nvSpPr>
        <p:spPr>
          <a:xfrm>
            <a:off x="4836565" y="4829609"/>
            <a:ext cx="2896801" cy="2646354"/>
          </a:xfrm>
          <a:prstGeom prst="rect">
            <a:avLst/>
          </a:prstGeom>
          <a:solidFill>
            <a:srgbClr val="000000">
              <a:alpha val="0"/>
            </a:srgbClr>
          </a:solidFill>
        </p:spPr>
        <p:txBody>
          <a:bodyPr lIns="0" tIns="0" rIns="0" bIns="0" rtlCol="0" anchor="ctr"/>
          <a:lstStyle/>
          <a:p>
            <a:pPr indent="0" algn="l">
              <a:lnSpc>
                <a:spcPct val="150000"/>
              </a:lnSpc>
              <a:defRPr/>
            </a:pPr>
            <a:r>
              <a:rPr lang="en-US" sz="1984" b="0">
                <a:solidFill>
                  <a:srgbClr val="D9D9D9"/>
                </a:solidFill>
                <a:latin typeface="Poppins"/>
              </a:rPr>
              <a:t>Despite awareness, individuals lack the technical and structural means to prevent unwanted data collection and tracking.</a:t>
            </a:r>
            <a:endParaRPr lang="en-US" sz="1100"/>
          </a:p>
        </p:txBody>
      </p:sp>
      <p:sp>
        <p:nvSpPr>
          <p:cNvPr id="13" name="AutoShape 13"/>
          <p:cNvSpPr/>
          <p:nvPr/>
        </p:nvSpPr>
        <p:spPr>
          <a:xfrm>
            <a:off x="8254012" y="3024144"/>
            <a:ext cx="3433798" cy="4720451"/>
          </a:xfrm>
          <a:prstGeom prst="rect">
            <a:avLst/>
          </a:prstGeom>
          <a:solidFill>
            <a:srgbClr val="000000">
              <a:alpha val="0"/>
            </a:srgbClr>
          </a:solidFill>
          <a:ln w="13547">
            <a:solidFill>
              <a:srgbClr val="9F6700">
                <a:alpha val="78824"/>
              </a:srgbClr>
            </a:solidFill>
          </a:ln>
        </p:spPr>
      </p:sp>
      <p:sp>
        <p:nvSpPr>
          <p:cNvPr id="14" name="TextBox 14"/>
          <p:cNvSpPr txBox="1"/>
          <p:nvPr/>
        </p:nvSpPr>
        <p:spPr>
          <a:xfrm>
            <a:off x="8522637" y="3292772"/>
            <a:ext cx="2896536" cy="1360515"/>
          </a:xfrm>
          <a:prstGeom prst="rect">
            <a:avLst/>
          </a:prstGeom>
          <a:solidFill>
            <a:srgbClr val="000000">
              <a:alpha val="0"/>
            </a:srgbClr>
          </a:solidFill>
        </p:spPr>
        <p:txBody>
          <a:bodyPr lIns="0" tIns="0" rIns="0" bIns="0" rtlCol="0" anchor="ctr"/>
          <a:lstStyle/>
          <a:p>
            <a:pPr indent="0" algn="l">
              <a:lnSpc>
                <a:spcPct val="120000"/>
              </a:lnSpc>
              <a:defRPr/>
            </a:pPr>
            <a:r>
              <a:rPr lang="en-US" sz="2976" b="1">
                <a:solidFill>
                  <a:srgbClr val="FF9D09"/>
                </a:solidFill>
                <a:latin typeface="Belanosima"/>
              </a:rPr>
              <a:t>Privacy Must Be Built In, Not Added Later</a:t>
            </a:r>
            <a:endParaRPr lang="en-US" sz="1100"/>
          </a:p>
        </p:txBody>
      </p:sp>
      <p:sp>
        <p:nvSpPr>
          <p:cNvPr id="15" name="TextBox 15"/>
          <p:cNvSpPr txBox="1"/>
          <p:nvPr/>
        </p:nvSpPr>
        <p:spPr>
          <a:xfrm>
            <a:off x="8522637" y="4829609"/>
            <a:ext cx="2896536" cy="2646354"/>
          </a:xfrm>
          <a:prstGeom prst="rect">
            <a:avLst/>
          </a:prstGeom>
          <a:solidFill>
            <a:srgbClr val="000000">
              <a:alpha val="0"/>
            </a:srgbClr>
          </a:solidFill>
        </p:spPr>
        <p:txBody>
          <a:bodyPr lIns="0" tIns="0" rIns="0" bIns="0" rtlCol="0" anchor="ctr"/>
          <a:lstStyle/>
          <a:p>
            <a:pPr indent="0" algn="l">
              <a:lnSpc>
                <a:spcPct val="150000"/>
              </a:lnSpc>
              <a:defRPr/>
            </a:pPr>
            <a:r>
              <a:rPr lang="en-US" sz="1984" b="0">
                <a:solidFill>
                  <a:srgbClr val="D9D9D9"/>
                </a:solidFill>
                <a:latin typeface="Poppins"/>
              </a:rPr>
              <a:t>Retrofitting privacy measures into existing systems proves ineffective; privacy protection must be foundational from inception.</a:t>
            </a:r>
            <a:endParaRPr lang="en-US" sz="1100"/>
          </a:p>
        </p:txBody>
      </p:sp>
      <p:sp>
        <p:nvSpPr>
          <p:cNvPr id="16" name="AutoShape 16"/>
          <p:cNvSpPr/>
          <p:nvPr/>
        </p:nvSpPr>
        <p:spPr>
          <a:xfrm>
            <a:off x="11939841" y="3024144"/>
            <a:ext cx="3434047" cy="4720451"/>
          </a:xfrm>
          <a:prstGeom prst="rect">
            <a:avLst/>
          </a:prstGeom>
          <a:solidFill>
            <a:srgbClr val="000000">
              <a:alpha val="0"/>
            </a:srgbClr>
          </a:solidFill>
          <a:ln w="13547">
            <a:solidFill>
              <a:srgbClr val="9F6700">
                <a:alpha val="78824"/>
              </a:srgbClr>
            </a:solidFill>
          </a:ln>
        </p:spPr>
      </p:sp>
      <p:sp>
        <p:nvSpPr>
          <p:cNvPr id="17" name="TextBox 17"/>
          <p:cNvSpPr txBox="1"/>
          <p:nvPr/>
        </p:nvSpPr>
        <p:spPr>
          <a:xfrm>
            <a:off x="12208466" y="3292772"/>
            <a:ext cx="2896801" cy="1360515"/>
          </a:xfrm>
          <a:prstGeom prst="rect">
            <a:avLst/>
          </a:prstGeom>
          <a:solidFill>
            <a:srgbClr val="000000">
              <a:alpha val="0"/>
            </a:srgbClr>
          </a:solidFill>
        </p:spPr>
        <p:txBody>
          <a:bodyPr lIns="0" tIns="0" rIns="0" bIns="0" rtlCol="0" anchor="ctr"/>
          <a:lstStyle/>
          <a:p>
            <a:pPr indent="0" algn="l">
              <a:lnSpc>
                <a:spcPct val="120000"/>
              </a:lnSpc>
              <a:defRPr/>
            </a:pPr>
            <a:r>
              <a:rPr lang="en-US" sz="2976" b="1">
                <a:solidFill>
                  <a:srgbClr val="FF9D09"/>
                </a:solidFill>
                <a:latin typeface="Belanosima"/>
              </a:rPr>
              <a:t>Privacy by Design Is the Only Sustainable Model</a:t>
            </a:r>
            <a:endParaRPr lang="en-US" sz="1100"/>
          </a:p>
        </p:txBody>
      </p:sp>
      <p:sp>
        <p:nvSpPr>
          <p:cNvPr id="18" name="TextBox 18"/>
          <p:cNvSpPr txBox="1"/>
          <p:nvPr/>
        </p:nvSpPr>
        <p:spPr>
          <a:xfrm>
            <a:off x="12208466" y="4829609"/>
            <a:ext cx="2896801" cy="2646354"/>
          </a:xfrm>
          <a:prstGeom prst="rect">
            <a:avLst/>
          </a:prstGeom>
          <a:solidFill>
            <a:srgbClr val="000000">
              <a:alpha val="0"/>
            </a:srgbClr>
          </a:solidFill>
        </p:spPr>
        <p:txBody>
          <a:bodyPr lIns="0" tIns="0" rIns="0" bIns="0" rtlCol="0" anchor="ctr"/>
          <a:lstStyle/>
          <a:p>
            <a:pPr indent="0" algn="l">
              <a:lnSpc>
                <a:spcPct val="150000"/>
              </a:lnSpc>
              <a:defRPr/>
            </a:pPr>
            <a:r>
              <a:rPr lang="en-US" sz="1984" b="0">
                <a:solidFill>
                  <a:srgbClr val="D9D9D9"/>
                </a:solidFill>
                <a:latin typeface="Poppins"/>
              </a:rPr>
              <a:t>Integrating privacy principles throughout product development, governance, and operations ensures lasting protection and user trust.</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a:ln w="13547">
            <a:solidFill>
              <a:srgbClr val="B46F00"/>
            </a:solidFill>
          </a:ln>
        </p:spPr>
      </p:sp>
      <p:pic>
        <p:nvPicPr>
          <p:cNvPr id="3" name="Picture 3"/>
          <p:cNvPicPr>
            <a:picLocks noChangeAspect="1"/>
          </p:cNvPicPr>
          <p:nvPr/>
        </p:nvPicPr>
        <p:blipFill>
          <a:blip r:embed="rId3"/>
          <a:srcRect t="74" b="74"/>
          <a:stretch>
            <a:fillRect/>
          </a:stretch>
        </p:blipFill>
        <p:spPr>
          <a:xfrm>
            <a:off x="0" y="0"/>
            <a:ext cx="16256000" cy="9144000"/>
          </a:xfrm>
          <a:prstGeom prst="rect">
            <a:avLst/>
          </a:prstGeom>
        </p:spPr>
      </p:pic>
      <p:pic>
        <p:nvPicPr>
          <p:cNvPr id="4" name="Picture 4"/>
          <p:cNvPicPr>
            <a:picLocks noChangeAspect="1"/>
          </p:cNvPicPr>
          <p:nvPr/>
        </p:nvPicPr>
        <p:blipFill>
          <a:blip r:embed="rId4"/>
          <a:srcRect t="629" b="629"/>
          <a:stretch>
            <a:fillRect/>
          </a:stretch>
        </p:blipFill>
        <p:spPr>
          <a:xfrm>
            <a:off x="16591" y="10286"/>
            <a:ext cx="5185305" cy="9123430"/>
          </a:xfrm>
          <a:prstGeom prst="roundRect">
            <a:avLst>
              <a:gd name="adj" fmla="val 3012"/>
            </a:avLst>
          </a:prstGeom>
        </p:spPr>
      </p:pic>
      <p:sp>
        <p:nvSpPr>
          <p:cNvPr id="5" name="TextBox 5"/>
          <p:cNvSpPr txBox="1"/>
          <p:nvPr/>
        </p:nvSpPr>
        <p:spPr>
          <a:xfrm>
            <a:off x="6084004" y="429619"/>
            <a:ext cx="9289630" cy="374812"/>
          </a:xfrm>
          <a:prstGeom prst="rect">
            <a:avLst/>
          </a:prstGeom>
          <a:solidFill>
            <a:srgbClr val="000000">
              <a:alpha val="0"/>
            </a:srgbClr>
          </a:solidFill>
        </p:spPr>
        <p:txBody>
          <a:bodyPr lIns="0" tIns="0" rIns="0" bIns="0" rtlCol="0" anchor="ctr"/>
          <a:lstStyle/>
          <a:p>
            <a:pPr indent="0" algn="l">
              <a:lnSpc>
                <a:spcPct val="120000"/>
              </a:lnSpc>
              <a:defRPr/>
            </a:pPr>
            <a:r>
              <a:rPr lang="en-US" sz="2460" b="1">
                <a:solidFill>
                  <a:srgbClr val="FF9D09"/>
                </a:solidFill>
                <a:latin typeface="Belanosima"/>
              </a:rPr>
              <a:t>Future of Privacy</a:t>
            </a:r>
            <a:endParaRPr lang="en-US" sz="1100"/>
          </a:p>
        </p:txBody>
      </p:sp>
      <p:sp>
        <p:nvSpPr>
          <p:cNvPr id="6" name="TextBox 6"/>
          <p:cNvSpPr txBox="1"/>
          <p:nvPr/>
        </p:nvSpPr>
        <p:spPr>
          <a:xfrm>
            <a:off x="6084004" y="980104"/>
            <a:ext cx="9289630" cy="281109"/>
          </a:xfrm>
          <a:prstGeom prst="rect">
            <a:avLst/>
          </a:prstGeom>
          <a:solidFill>
            <a:srgbClr val="000000">
              <a:alpha val="0"/>
            </a:srgbClr>
          </a:solidFill>
        </p:spPr>
        <p:txBody>
          <a:bodyPr lIns="0" tIns="0" rIns="0" bIns="0" rtlCol="0" anchor="ctr"/>
          <a:lstStyle/>
          <a:p>
            <a:pPr indent="0" algn="l">
              <a:lnSpc>
                <a:spcPct val="120000"/>
              </a:lnSpc>
              <a:defRPr/>
            </a:pPr>
            <a:r>
              <a:rPr lang="en-US" sz="1845" b="1">
                <a:solidFill>
                  <a:srgbClr val="FF9D09"/>
                </a:solidFill>
                <a:latin typeface="Belanosima"/>
              </a:rPr>
              <a:t>What's Coming Next</a:t>
            </a:r>
            <a:endParaRPr lang="en-US" sz="1100"/>
          </a:p>
        </p:txBody>
      </p:sp>
      <p:sp>
        <p:nvSpPr>
          <p:cNvPr id="7" name="AutoShape 7"/>
          <p:cNvSpPr/>
          <p:nvPr/>
        </p:nvSpPr>
        <p:spPr>
          <a:xfrm>
            <a:off x="6084004" y="1436887"/>
            <a:ext cx="9289630" cy="7277494"/>
          </a:xfrm>
          <a:prstGeom prst="rect">
            <a:avLst/>
          </a:prstGeom>
          <a:solidFill>
            <a:srgbClr val="000000">
              <a:alpha val="0"/>
            </a:srgbClr>
          </a:solidFill>
        </p:spPr>
      </p:sp>
      <p:sp>
        <p:nvSpPr>
          <p:cNvPr id="8" name="AutoShape 8"/>
          <p:cNvSpPr/>
          <p:nvPr/>
        </p:nvSpPr>
        <p:spPr>
          <a:xfrm>
            <a:off x="6084004" y="1436887"/>
            <a:ext cx="2886424" cy="5505494"/>
          </a:xfrm>
          <a:prstGeom prst="rect">
            <a:avLst/>
          </a:prstGeom>
          <a:solidFill>
            <a:srgbClr val="000000">
              <a:alpha val="0"/>
            </a:srgbClr>
          </a:solidFill>
        </p:spPr>
      </p:sp>
      <p:sp>
        <p:nvSpPr>
          <p:cNvPr id="9" name="AutoShape 9"/>
          <p:cNvSpPr/>
          <p:nvPr/>
        </p:nvSpPr>
        <p:spPr>
          <a:xfrm>
            <a:off x="6084004" y="1436887"/>
            <a:ext cx="567070" cy="351507"/>
          </a:xfrm>
          <a:prstGeom prst="rect">
            <a:avLst/>
          </a:prstGeom>
          <a:solidFill>
            <a:srgbClr val="33291B"/>
          </a:solidFill>
          <a:ln w="13547">
            <a:solidFill>
              <a:srgbClr val="9F6800"/>
            </a:solidFill>
          </a:ln>
        </p:spPr>
      </p:sp>
      <p:sp>
        <p:nvSpPr>
          <p:cNvPr id="10" name="TextBox 10"/>
          <p:cNvSpPr txBox="1"/>
          <p:nvPr/>
        </p:nvSpPr>
        <p:spPr>
          <a:xfrm>
            <a:off x="6323337" y="1495391"/>
            <a:ext cx="315039" cy="234338"/>
          </a:xfrm>
          <a:prstGeom prst="rect">
            <a:avLst/>
          </a:prstGeom>
          <a:solidFill>
            <a:srgbClr val="000000">
              <a:alpha val="0"/>
            </a:srgbClr>
          </a:solidFill>
        </p:spPr>
        <p:txBody>
          <a:bodyPr lIns="0" tIns="0" rIns="0" bIns="0" rtlCol="0" anchor="ctr"/>
          <a:lstStyle/>
          <a:p>
            <a:pPr indent="0" algn="l">
              <a:lnSpc>
                <a:spcPct val="120000"/>
              </a:lnSpc>
              <a:defRPr/>
            </a:pPr>
            <a:r>
              <a:rPr lang="en-US" sz="1537" b="1">
                <a:solidFill>
                  <a:srgbClr val="FF9A0C"/>
                </a:solidFill>
                <a:highlight>
                  <a:srgbClr val="000000">
                    <a:alpha val="0"/>
                  </a:srgbClr>
                </a:highlight>
                <a:latin typeface="Belanosima"/>
              </a:rPr>
              <a:t>1</a:t>
            </a:r>
            <a:endParaRPr lang="en-US" sz="1100"/>
          </a:p>
        </p:txBody>
      </p:sp>
      <p:sp>
        <p:nvSpPr>
          <p:cNvPr id="11" name="TextBox 11"/>
          <p:cNvSpPr txBox="1"/>
          <p:nvPr/>
        </p:nvSpPr>
        <p:spPr>
          <a:xfrm>
            <a:off x="6903111" y="1490569"/>
            <a:ext cx="2067323" cy="1124436"/>
          </a:xfrm>
          <a:prstGeom prst="rect">
            <a:avLst/>
          </a:prstGeom>
          <a:solidFill>
            <a:srgbClr val="000000">
              <a:alpha val="0"/>
            </a:srgbClr>
          </a:solidFill>
        </p:spPr>
        <p:txBody>
          <a:bodyPr lIns="0" tIns="0" rIns="0" bIns="0" rtlCol="0" anchor="ctr"/>
          <a:lstStyle/>
          <a:p>
            <a:pPr indent="0" algn="l">
              <a:lnSpc>
                <a:spcPct val="120000"/>
              </a:lnSpc>
              <a:defRPr/>
            </a:pPr>
            <a:r>
              <a:rPr lang="en-US" sz="1845" b="1">
                <a:solidFill>
                  <a:srgbClr val="FF9D09"/>
                </a:solidFill>
                <a:latin typeface="Belanosima"/>
              </a:rPr>
              <a:t>AI will require stricter data controls</a:t>
            </a:r>
            <a:endParaRPr lang="en-US" sz="1100"/>
          </a:p>
        </p:txBody>
      </p:sp>
      <p:sp>
        <p:nvSpPr>
          <p:cNvPr id="12" name="TextBox 12"/>
          <p:cNvSpPr txBox="1"/>
          <p:nvPr/>
        </p:nvSpPr>
        <p:spPr>
          <a:xfrm>
            <a:off x="6903111" y="2724299"/>
            <a:ext cx="2067323" cy="4218082"/>
          </a:xfrm>
          <a:prstGeom prst="rect">
            <a:avLst/>
          </a:prstGeom>
          <a:solidFill>
            <a:srgbClr val="000000">
              <a:alpha val="0"/>
            </a:srgbClr>
          </a:solidFill>
        </p:spPr>
        <p:txBody>
          <a:bodyPr lIns="0" tIns="0" rIns="0" bIns="0" rtlCol="0" anchor="ctr"/>
          <a:lstStyle/>
          <a:p>
            <a:pPr indent="0" algn="l">
              <a:lnSpc>
                <a:spcPct val="150000"/>
              </a:lnSpc>
              <a:defRPr/>
            </a:pPr>
            <a:r>
              <a:rPr lang="en-US" sz="1230" b="0">
                <a:solidFill>
                  <a:srgbClr val="D9D9D9"/>
                </a:solidFill>
                <a:latin typeface="Poppins"/>
              </a:rPr>
              <a:t>Artificial intelligence systems demand access to vast amounts of personal data, necessitating robust regulatory frameworks and enhanced privacy protections to prevent misuse and unauthorized access.</a:t>
            </a:r>
            <a:endParaRPr lang="en-US" sz="1100"/>
          </a:p>
        </p:txBody>
      </p:sp>
      <p:sp>
        <p:nvSpPr>
          <p:cNvPr id="13" name="AutoShape 13"/>
          <p:cNvSpPr/>
          <p:nvPr/>
        </p:nvSpPr>
        <p:spPr>
          <a:xfrm>
            <a:off x="9285485" y="1436887"/>
            <a:ext cx="2886424" cy="5505494"/>
          </a:xfrm>
          <a:prstGeom prst="rect">
            <a:avLst/>
          </a:prstGeom>
          <a:solidFill>
            <a:srgbClr val="000000">
              <a:alpha val="0"/>
            </a:srgbClr>
          </a:solidFill>
        </p:spPr>
      </p:sp>
      <p:sp>
        <p:nvSpPr>
          <p:cNvPr id="14" name="AutoShape 14"/>
          <p:cNvSpPr/>
          <p:nvPr/>
        </p:nvSpPr>
        <p:spPr>
          <a:xfrm>
            <a:off x="9285485" y="1436887"/>
            <a:ext cx="567070" cy="351507"/>
          </a:xfrm>
          <a:prstGeom prst="rect">
            <a:avLst/>
          </a:prstGeom>
          <a:solidFill>
            <a:srgbClr val="33291B"/>
          </a:solidFill>
          <a:ln w="13547">
            <a:solidFill>
              <a:srgbClr val="9F6800"/>
            </a:solidFill>
          </a:ln>
        </p:spPr>
      </p:sp>
      <p:sp>
        <p:nvSpPr>
          <p:cNvPr id="15" name="TextBox 15"/>
          <p:cNvSpPr txBox="1"/>
          <p:nvPr/>
        </p:nvSpPr>
        <p:spPr>
          <a:xfrm>
            <a:off x="9492654" y="1495391"/>
            <a:ext cx="315039" cy="234338"/>
          </a:xfrm>
          <a:prstGeom prst="rect">
            <a:avLst/>
          </a:prstGeom>
          <a:solidFill>
            <a:srgbClr val="000000">
              <a:alpha val="0"/>
            </a:srgbClr>
          </a:solidFill>
        </p:spPr>
        <p:txBody>
          <a:bodyPr lIns="0" tIns="0" rIns="0" bIns="0" rtlCol="0" anchor="ctr"/>
          <a:lstStyle/>
          <a:p>
            <a:pPr indent="0" algn="l">
              <a:lnSpc>
                <a:spcPct val="120000"/>
              </a:lnSpc>
              <a:defRPr/>
            </a:pPr>
            <a:r>
              <a:rPr lang="en-US" sz="1537" b="1">
                <a:solidFill>
                  <a:srgbClr val="FF9A0C"/>
                </a:solidFill>
                <a:highlight>
                  <a:srgbClr val="000000">
                    <a:alpha val="0"/>
                  </a:srgbClr>
                </a:highlight>
                <a:latin typeface="Belanosima"/>
              </a:rPr>
              <a:t>2</a:t>
            </a:r>
            <a:endParaRPr lang="en-US" sz="1100"/>
          </a:p>
        </p:txBody>
      </p:sp>
      <p:sp>
        <p:nvSpPr>
          <p:cNvPr id="16" name="TextBox 16"/>
          <p:cNvSpPr txBox="1"/>
          <p:nvPr/>
        </p:nvSpPr>
        <p:spPr>
          <a:xfrm>
            <a:off x="10104577" y="1490569"/>
            <a:ext cx="2067323" cy="1405545"/>
          </a:xfrm>
          <a:prstGeom prst="rect">
            <a:avLst/>
          </a:prstGeom>
          <a:solidFill>
            <a:srgbClr val="000000">
              <a:alpha val="0"/>
            </a:srgbClr>
          </a:solidFill>
        </p:spPr>
        <p:txBody>
          <a:bodyPr lIns="0" tIns="0" rIns="0" bIns="0" rtlCol="0" anchor="ctr"/>
          <a:lstStyle/>
          <a:p>
            <a:pPr indent="0" algn="l">
              <a:lnSpc>
                <a:spcPct val="120000"/>
              </a:lnSpc>
              <a:defRPr/>
            </a:pPr>
            <a:r>
              <a:rPr lang="en-US" sz="1845" b="1">
                <a:solidFill>
                  <a:srgbClr val="FF9D09"/>
                </a:solidFill>
                <a:latin typeface="Belanosima"/>
              </a:rPr>
              <a:t>Biometrics will become a major battleground</a:t>
            </a:r>
            <a:endParaRPr lang="en-US" sz="1100"/>
          </a:p>
        </p:txBody>
      </p:sp>
      <p:sp>
        <p:nvSpPr>
          <p:cNvPr id="17" name="TextBox 17"/>
          <p:cNvSpPr txBox="1"/>
          <p:nvPr/>
        </p:nvSpPr>
        <p:spPr>
          <a:xfrm>
            <a:off x="10104577" y="3005408"/>
            <a:ext cx="2067323" cy="3515069"/>
          </a:xfrm>
          <a:prstGeom prst="rect">
            <a:avLst/>
          </a:prstGeom>
          <a:solidFill>
            <a:srgbClr val="000000">
              <a:alpha val="0"/>
            </a:srgbClr>
          </a:solidFill>
        </p:spPr>
        <p:txBody>
          <a:bodyPr lIns="0" tIns="0" rIns="0" bIns="0" rtlCol="0" anchor="ctr"/>
          <a:lstStyle/>
          <a:p>
            <a:pPr indent="0" algn="l">
              <a:lnSpc>
                <a:spcPct val="150000"/>
              </a:lnSpc>
              <a:defRPr/>
            </a:pPr>
            <a:r>
              <a:rPr lang="en-US" sz="1230" b="0">
                <a:solidFill>
                  <a:srgbClr val="D9D9D9"/>
                </a:solidFill>
                <a:latin typeface="Poppins"/>
              </a:rPr>
              <a:t>Facial recognition, fingerprint scanning, and other biometric technologies will spark significant privacy debates as they become ubiquitous in security and identification systems worldwide.</a:t>
            </a:r>
            <a:endParaRPr lang="en-US" sz="1100"/>
          </a:p>
        </p:txBody>
      </p:sp>
      <p:sp>
        <p:nvSpPr>
          <p:cNvPr id="18" name="AutoShape 18"/>
          <p:cNvSpPr/>
          <p:nvPr/>
        </p:nvSpPr>
        <p:spPr>
          <a:xfrm>
            <a:off x="12486951" y="1436887"/>
            <a:ext cx="2886688" cy="5505494"/>
          </a:xfrm>
          <a:prstGeom prst="rect">
            <a:avLst/>
          </a:prstGeom>
          <a:solidFill>
            <a:srgbClr val="000000">
              <a:alpha val="0"/>
            </a:srgbClr>
          </a:solidFill>
        </p:spPr>
      </p:sp>
      <p:sp>
        <p:nvSpPr>
          <p:cNvPr id="19" name="AutoShape 19"/>
          <p:cNvSpPr/>
          <p:nvPr/>
        </p:nvSpPr>
        <p:spPr>
          <a:xfrm>
            <a:off x="12486951" y="1436887"/>
            <a:ext cx="567070" cy="351507"/>
          </a:xfrm>
          <a:prstGeom prst="rect">
            <a:avLst/>
          </a:prstGeom>
          <a:solidFill>
            <a:srgbClr val="33291B"/>
          </a:solidFill>
          <a:ln w="13547">
            <a:solidFill>
              <a:srgbClr val="9F6800"/>
            </a:solidFill>
          </a:ln>
        </p:spPr>
      </p:sp>
      <p:sp>
        <p:nvSpPr>
          <p:cNvPr id="20" name="TextBox 20"/>
          <p:cNvSpPr txBox="1"/>
          <p:nvPr/>
        </p:nvSpPr>
        <p:spPr>
          <a:xfrm>
            <a:off x="12696202" y="1495391"/>
            <a:ext cx="315039" cy="234338"/>
          </a:xfrm>
          <a:prstGeom prst="rect">
            <a:avLst/>
          </a:prstGeom>
          <a:solidFill>
            <a:srgbClr val="000000">
              <a:alpha val="0"/>
            </a:srgbClr>
          </a:solidFill>
        </p:spPr>
        <p:txBody>
          <a:bodyPr lIns="0" tIns="0" rIns="0" bIns="0" rtlCol="0" anchor="ctr"/>
          <a:lstStyle/>
          <a:p>
            <a:pPr indent="0" algn="l">
              <a:lnSpc>
                <a:spcPct val="120000"/>
              </a:lnSpc>
              <a:defRPr/>
            </a:pPr>
            <a:r>
              <a:rPr lang="en-US" sz="1537" b="1">
                <a:solidFill>
                  <a:srgbClr val="FF9A0C"/>
                </a:solidFill>
                <a:highlight>
                  <a:srgbClr val="000000">
                    <a:alpha val="0"/>
                  </a:srgbClr>
                </a:highlight>
                <a:latin typeface="Belanosima"/>
              </a:rPr>
              <a:t>3</a:t>
            </a:r>
            <a:endParaRPr lang="en-US" sz="1100"/>
          </a:p>
        </p:txBody>
      </p:sp>
      <p:sp>
        <p:nvSpPr>
          <p:cNvPr id="21" name="TextBox 21"/>
          <p:cNvSpPr txBox="1"/>
          <p:nvPr/>
        </p:nvSpPr>
        <p:spPr>
          <a:xfrm>
            <a:off x="13306042" y="1490569"/>
            <a:ext cx="2067588" cy="1124436"/>
          </a:xfrm>
          <a:prstGeom prst="rect">
            <a:avLst/>
          </a:prstGeom>
          <a:solidFill>
            <a:srgbClr val="000000">
              <a:alpha val="0"/>
            </a:srgbClr>
          </a:solidFill>
        </p:spPr>
        <p:txBody>
          <a:bodyPr lIns="0" tIns="0" rIns="0" bIns="0" rtlCol="0" anchor="ctr"/>
          <a:lstStyle/>
          <a:p>
            <a:pPr indent="0" algn="l">
              <a:lnSpc>
                <a:spcPct val="120000"/>
              </a:lnSpc>
              <a:defRPr/>
            </a:pPr>
            <a:r>
              <a:rPr lang="en-US" sz="1845" b="1">
                <a:solidFill>
                  <a:srgbClr val="FF9D09"/>
                </a:solidFill>
                <a:latin typeface="Belanosima"/>
              </a:rPr>
              <a:t>Governments will expand digital surveillance</a:t>
            </a:r>
            <a:endParaRPr lang="en-US" sz="1100"/>
          </a:p>
        </p:txBody>
      </p:sp>
      <p:sp>
        <p:nvSpPr>
          <p:cNvPr id="22" name="TextBox 22"/>
          <p:cNvSpPr txBox="1"/>
          <p:nvPr/>
        </p:nvSpPr>
        <p:spPr>
          <a:xfrm>
            <a:off x="13306042" y="2724299"/>
            <a:ext cx="2067588" cy="3515069"/>
          </a:xfrm>
          <a:prstGeom prst="rect">
            <a:avLst/>
          </a:prstGeom>
          <a:solidFill>
            <a:srgbClr val="000000">
              <a:alpha val="0"/>
            </a:srgbClr>
          </a:solidFill>
        </p:spPr>
        <p:txBody>
          <a:bodyPr lIns="0" tIns="0" rIns="0" bIns="0" rtlCol="0" anchor="ctr"/>
          <a:lstStyle/>
          <a:p>
            <a:pPr indent="0" algn="l">
              <a:lnSpc>
                <a:spcPct val="150000"/>
              </a:lnSpc>
              <a:defRPr/>
            </a:pPr>
            <a:r>
              <a:rPr lang="en-US" sz="1230" b="0">
                <a:solidFill>
                  <a:srgbClr val="D9D9D9"/>
                </a:solidFill>
                <a:latin typeface="Poppins"/>
              </a:rPr>
              <a:t>State-level monitoring capabilities will grow substantially, raising concerns about citizen privacy rights and the balance between national security and individual freedoms.</a:t>
            </a:r>
            <a:endParaRPr lang="en-US" sz="1100"/>
          </a:p>
        </p:txBody>
      </p:sp>
      <p:sp>
        <p:nvSpPr>
          <p:cNvPr id="23" name="AutoShape 23"/>
          <p:cNvSpPr/>
          <p:nvPr/>
        </p:nvSpPr>
        <p:spPr>
          <a:xfrm>
            <a:off x="6084004" y="7332944"/>
            <a:ext cx="9289630" cy="1381436"/>
          </a:xfrm>
          <a:prstGeom prst="rect">
            <a:avLst/>
          </a:prstGeom>
          <a:solidFill>
            <a:srgbClr val="000000">
              <a:alpha val="0"/>
            </a:srgbClr>
          </a:solidFill>
        </p:spPr>
      </p:sp>
      <p:sp>
        <p:nvSpPr>
          <p:cNvPr id="24" name="AutoShape 24"/>
          <p:cNvSpPr/>
          <p:nvPr/>
        </p:nvSpPr>
        <p:spPr>
          <a:xfrm>
            <a:off x="6084004" y="7332944"/>
            <a:ext cx="567070" cy="351507"/>
          </a:xfrm>
          <a:prstGeom prst="rect">
            <a:avLst/>
          </a:prstGeom>
          <a:solidFill>
            <a:srgbClr val="33291B"/>
          </a:solidFill>
          <a:ln w="13547">
            <a:solidFill>
              <a:srgbClr val="9F6800"/>
            </a:solidFill>
          </a:ln>
        </p:spPr>
      </p:sp>
      <p:sp>
        <p:nvSpPr>
          <p:cNvPr id="25" name="TextBox 25"/>
          <p:cNvSpPr txBox="1"/>
          <p:nvPr/>
        </p:nvSpPr>
        <p:spPr>
          <a:xfrm>
            <a:off x="6288591" y="7391448"/>
            <a:ext cx="315039" cy="234338"/>
          </a:xfrm>
          <a:prstGeom prst="rect">
            <a:avLst/>
          </a:prstGeom>
          <a:solidFill>
            <a:srgbClr val="000000">
              <a:alpha val="0"/>
            </a:srgbClr>
          </a:solidFill>
        </p:spPr>
        <p:txBody>
          <a:bodyPr lIns="0" tIns="0" rIns="0" bIns="0" rtlCol="0" anchor="ctr"/>
          <a:lstStyle/>
          <a:p>
            <a:pPr indent="0" algn="l">
              <a:lnSpc>
                <a:spcPct val="120000"/>
              </a:lnSpc>
              <a:defRPr/>
            </a:pPr>
            <a:r>
              <a:rPr lang="en-US" sz="1537" b="1">
                <a:solidFill>
                  <a:srgbClr val="FF9A0C"/>
                </a:solidFill>
                <a:highlight>
                  <a:srgbClr val="000000">
                    <a:alpha val="0"/>
                  </a:srgbClr>
                </a:highlight>
                <a:latin typeface="Belanosima"/>
              </a:rPr>
              <a:t>4</a:t>
            </a:r>
            <a:endParaRPr lang="en-US" sz="1100"/>
          </a:p>
        </p:txBody>
      </p:sp>
      <p:sp>
        <p:nvSpPr>
          <p:cNvPr id="26" name="TextBox 26"/>
          <p:cNvSpPr txBox="1"/>
          <p:nvPr/>
        </p:nvSpPr>
        <p:spPr>
          <a:xfrm>
            <a:off x="6903111" y="7386627"/>
            <a:ext cx="8470529" cy="281109"/>
          </a:xfrm>
          <a:prstGeom prst="rect">
            <a:avLst/>
          </a:prstGeom>
          <a:solidFill>
            <a:srgbClr val="000000">
              <a:alpha val="0"/>
            </a:srgbClr>
          </a:solidFill>
        </p:spPr>
        <p:txBody>
          <a:bodyPr lIns="0" tIns="0" rIns="0" bIns="0" rtlCol="0" anchor="ctr"/>
          <a:lstStyle/>
          <a:p>
            <a:pPr indent="0" algn="l">
              <a:lnSpc>
                <a:spcPct val="120000"/>
              </a:lnSpc>
              <a:defRPr/>
            </a:pPr>
            <a:r>
              <a:rPr lang="en-US" sz="1845" b="1">
                <a:solidFill>
                  <a:srgbClr val="FF9D09"/>
                </a:solidFill>
                <a:latin typeface="Belanosima"/>
              </a:rPr>
              <a:t>Privacy-preserving tech will become standard</a:t>
            </a:r>
            <a:endParaRPr lang="en-US" sz="1100"/>
          </a:p>
        </p:txBody>
      </p:sp>
      <p:sp>
        <p:nvSpPr>
          <p:cNvPr id="27" name="TextBox 27"/>
          <p:cNvSpPr txBox="1"/>
          <p:nvPr/>
        </p:nvSpPr>
        <p:spPr>
          <a:xfrm>
            <a:off x="6903111" y="7777028"/>
            <a:ext cx="8470529" cy="937352"/>
          </a:xfrm>
          <a:prstGeom prst="rect">
            <a:avLst/>
          </a:prstGeom>
          <a:solidFill>
            <a:srgbClr val="000000">
              <a:alpha val="0"/>
            </a:srgbClr>
          </a:solidFill>
        </p:spPr>
        <p:txBody>
          <a:bodyPr lIns="0" tIns="0" rIns="0" bIns="0" rtlCol="0" anchor="ctr"/>
          <a:lstStyle/>
          <a:p>
            <a:pPr indent="0" algn="l">
              <a:lnSpc>
                <a:spcPct val="150000"/>
              </a:lnSpc>
              <a:defRPr/>
            </a:pPr>
            <a:r>
              <a:rPr lang="en-US" sz="1230" b="0">
                <a:solidFill>
                  <a:srgbClr val="D9D9D9"/>
                </a:solidFill>
                <a:latin typeface="Poppins"/>
              </a:rPr>
              <a:t>Encryption, differential privacy, and other privacy-enhancing technologies will be integrated into mainstream platforms and applications as consumers demand greater control over their personal information.</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a:ln w="13547">
            <a:solidFill>
              <a:srgbClr val="B46F00"/>
            </a:solidFill>
          </a:ln>
        </p:spPr>
      </p:sp>
      <p:pic>
        <p:nvPicPr>
          <p:cNvPr id="3" name="Picture 3"/>
          <p:cNvPicPr>
            <a:picLocks noChangeAspect="1"/>
          </p:cNvPicPr>
          <p:nvPr/>
        </p:nvPicPr>
        <p:blipFill>
          <a:blip r:embed="rId3"/>
          <a:srcRect t="74" b="74"/>
          <a:stretch>
            <a:fillRect/>
          </a:stretch>
        </p:blipFill>
        <p:spPr>
          <a:xfrm>
            <a:off x="0" y="0"/>
            <a:ext cx="16256000" cy="9144000"/>
          </a:xfrm>
          <a:prstGeom prst="rect">
            <a:avLst/>
          </a:prstGeom>
        </p:spPr>
      </p:pic>
      <p:sp>
        <p:nvSpPr>
          <p:cNvPr id="4" name="TextBox 4"/>
          <p:cNvSpPr txBox="1"/>
          <p:nvPr/>
        </p:nvSpPr>
        <p:spPr>
          <a:xfrm>
            <a:off x="882112" y="2268562"/>
            <a:ext cx="14491783" cy="604674"/>
          </a:xfrm>
          <a:prstGeom prst="rect">
            <a:avLst/>
          </a:prstGeom>
          <a:solidFill>
            <a:srgbClr val="000000">
              <a:alpha val="0"/>
            </a:srgbClr>
          </a:solidFill>
        </p:spPr>
        <p:txBody>
          <a:bodyPr lIns="0" tIns="0" rIns="0" bIns="0" rtlCol="0" anchor="ctr"/>
          <a:lstStyle/>
          <a:p>
            <a:pPr indent="0" algn="l">
              <a:lnSpc>
                <a:spcPct val="120000"/>
              </a:lnSpc>
              <a:defRPr/>
            </a:pPr>
            <a:r>
              <a:rPr lang="en-US" sz="3968" b="1">
                <a:solidFill>
                  <a:srgbClr val="FF9D09"/>
                </a:solidFill>
                <a:latin typeface="Belanosima"/>
              </a:rPr>
              <a:t>Conclusion</a:t>
            </a:r>
            <a:endParaRPr lang="en-US" sz="1100"/>
          </a:p>
        </p:txBody>
      </p:sp>
      <p:sp>
        <p:nvSpPr>
          <p:cNvPr id="5" name="TextBox 5"/>
          <p:cNvSpPr txBox="1"/>
          <p:nvPr/>
        </p:nvSpPr>
        <p:spPr>
          <a:xfrm>
            <a:off x="882112" y="3156645"/>
            <a:ext cx="14491783" cy="453505"/>
          </a:xfrm>
          <a:prstGeom prst="rect">
            <a:avLst/>
          </a:prstGeom>
          <a:solidFill>
            <a:srgbClr val="000000">
              <a:alpha val="0"/>
            </a:srgbClr>
          </a:solidFill>
        </p:spPr>
        <p:txBody>
          <a:bodyPr lIns="0" tIns="0" rIns="0" bIns="0" rtlCol="0" anchor="ctr"/>
          <a:lstStyle/>
          <a:p>
            <a:pPr indent="0" algn="l">
              <a:lnSpc>
                <a:spcPct val="120000"/>
              </a:lnSpc>
              <a:defRPr/>
            </a:pPr>
            <a:r>
              <a:rPr lang="en-US" sz="2976" b="1">
                <a:solidFill>
                  <a:srgbClr val="FF9D09"/>
                </a:solidFill>
                <a:latin typeface="Belanosima"/>
              </a:rPr>
              <a:t>Privacy = Technical + Ethical + Policy</a:t>
            </a:r>
            <a:endParaRPr lang="en-US" sz="1100"/>
          </a:p>
        </p:txBody>
      </p:sp>
      <p:sp>
        <p:nvSpPr>
          <p:cNvPr id="6" name="AutoShape 6"/>
          <p:cNvSpPr/>
          <p:nvPr/>
        </p:nvSpPr>
        <p:spPr>
          <a:xfrm>
            <a:off x="882112" y="3893557"/>
            <a:ext cx="14491783" cy="2981885"/>
          </a:xfrm>
          <a:prstGeom prst="rect">
            <a:avLst/>
          </a:prstGeom>
          <a:solidFill>
            <a:srgbClr val="000000">
              <a:alpha val="0"/>
            </a:srgbClr>
          </a:solidFill>
        </p:spPr>
      </p:sp>
      <p:sp>
        <p:nvSpPr>
          <p:cNvPr id="7" name="AutoShape 7"/>
          <p:cNvSpPr/>
          <p:nvPr/>
        </p:nvSpPr>
        <p:spPr>
          <a:xfrm>
            <a:off x="882112" y="3893557"/>
            <a:ext cx="4662574" cy="2981885"/>
          </a:xfrm>
          <a:prstGeom prst="rect">
            <a:avLst/>
          </a:prstGeom>
          <a:solidFill>
            <a:srgbClr val="33291B">
              <a:alpha val="71765"/>
            </a:srgbClr>
          </a:solidFill>
          <a:ln w="13547">
            <a:solidFill>
              <a:srgbClr val="9F6700">
                <a:alpha val="78824"/>
              </a:srgbClr>
            </a:solidFill>
          </a:ln>
        </p:spPr>
      </p:sp>
      <p:sp>
        <p:nvSpPr>
          <p:cNvPr id="8" name="TextBox 8"/>
          <p:cNvSpPr txBox="1"/>
          <p:nvPr/>
        </p:nvSpPr>
        <p:spPr>
          <a:xfrm>
            <a:off x="1150736" y="4162186"/>
            <a:ext cx="4125328" cy="378051"/>
          </a:xfrm>
          <a:prstGeom prst="rect">
            <a:avLst/>
          </a:prstGeom>
          <a:solidFill>
            <a:srgbClr val="000000">
              <a:alpha val="0"/>
            </a:srgbClr>
          </a:solidFill>
        </p:spPr>
        <p:txBody>
          <a:bodyPr lIns="0" tIns="0" rIns="0" bIns="0" rtlCol="0" anchor="ctr"/>
          <a:lstStyle/>
          <a:p>
            <a:pPr indent="0" algn="l">
              <a:lnSpc>
                <a:spcPct val="120000"/>
              </a:lnSpc>
              <a:defRPr/>
            </a:pPr>
            <a:r>
              <a:rPr lang="en-US" sz="2480" b="1">
                <a:solidFill>
                  <a:srgbClr val="FF9A0C"/>
                </a:solidFill>
                <a:latin typeface="Belanosima"/>
              </a:rPr>
              <a:t>Real-world Cases</a:t>
            </a:r>
            <a:endParaRPr lang="en-US" sz="1100"/>
          </a:p>
        </p:txBody>
      </p:sp>
      <p:sp>
        <p:nvSpPr>
          <p:cNvPr id="9" name="TextBox 9"/>
          <p:cNvSpPr txBox="1"/>
          <p:nvPr/>
        </p:nvSpPr>
        <p:spPr>
          <a:xfrm>
            <a:off x="1150736" y="4716557"/>
            <a:ext cx="4125328" cy="1512202"/>
          </a:xfrm>
          <a:prstGeom prst="rect">
            <a:avLst/>
          </a:prstGeom>
          <a:solidFill>
            <a:srgbClr val="000000">
              <a:alpha val="0"/>
            </a:srgbClr>
          </a:solidFill>
        </p:spPr>
        <p:txBody>
          <a:bodyPr lIns="0" tIns="0" rIns="0" bIns="0" rtlCol="0" anchor="ctr"/>
          <a:lstStyle/>
          <a:p>
            <a:pPr indent="0" algn="l">
              <a:lnSpc>
                <a:spcPct val="150000"/>
              </a:lnSpc>
              <a:defRPr/>
            </a:pPr>
            <a:r>
              <a:rPr lang="en-US" sz="1984" b="0">
                <a:solidFill>
                  <a:srgbClr val="D9D9D9"/>
                </a:solidFill>
                <a:latin typeface="Poppins"/>
              </a:rPr>
              <a:t>Real-world cases show how fragile privacy is in the face of technological change and systemic vulnerabilities.</a:t>
            </a:r>
            <a:endParaRPr lang="en-US" sz="1100"/>
          </a:p>
        </p:txBody>
      </p:sp>
      <p:sp>
        <p:nvSpPr>
          <p:cNvPr id="10" name="AutoShape 10"/>
          <p:cNvSpPr/>
          <p:nvPr/>
        </p:nvSpPr>
        <p:spPr>
          <a:xfrm>
            <a:off x="5796722" y="3893557"/>
            <a:ext cx="4662574" cy="2981885"/>
          </a:xfrm>
          <a:prstGeom prst="rect">
            <a:avLst/>
          </a:prstGeom>
          <a:solidFill>
            <a:srgbClr val="33291B">
              <a:alpha val="71765"/>
            </a:srgbClr>
          </a:solidFill>
          <a:ln w="13547">
            <a:solidFill>
              <a:srgbClr val="9F6700">
                <a:alpha val="78824"/>
              </a:srgbClr>
            </a:solidFill>
          </a:ln>
        </p:spPr>
      </p:sp>
      <p:sp>
        <p:nvSpPr>
          <p:cNvPr id="11" name="TextBox 11"/>
          <p:cNvSpPr txBox="1"/>
          <p:nvPr/>
        </p:nvSpPr>
        <p:spPr>
          <a:xfrm>
            <a:off x="6065347" y="4162186"/>
            <a:ext cx="4125328" cy="378051"/>
          </a:xfrm>
          <a:prstGeom prst="rect">
            <a:avLst/>
          </a:prstGeom>
          <a:solidFill>
            <a:srgbClr val="000000">
              <a:alpha val="0"/>
            </a:srgbClr>
          </a:solidFill>
        </p:spPr>
        <p:txBody>
          <a:bodyPr lIns="0" tIns="0" rIns="0" bIns="0" rtlCol="0" anchor="ctr"/>
          <a:lstStyle/>
          <a:p>
            <a:pPr indent="0" algn="l">
              <a:lnSpc>
                <a:spcPct val="120000"/>
              </a:lnSpc>
              <a:defRPr/>
            </a:pPr>
            <a:r>
              <a:rPr lang="en-US" sz="2480" b="1">
                <a:solidFill>
                  <a:srgbClr val="FF9A0C"/>
                </a:solidFill>
                <a:latin typeface="Belanosima"/>
              </a:rPr>
              <a:t>Computing Decisions</a:t>
            </a:r>
            <a:endParaRPr lang="en-US" sz="1100"/>
          </a:p>
        </p:txBody>
      </p:sp>
      <p:sp>
        <p:nvSpPr>
          <p:cNvPr id="12" name="TextBox 12"/>
          <p:cNvSpPr txBox="1"/>
          <p:nvPr/>
        </p:nvSpPr>
        <p:spPr>
          <a:xfrm>
            <a:off x="6065347" y="4716557"/>
            <a:ext cx="4125328" cy="1890253"/>
          </a:xfrm>
          <a:prstGeom prst="rect">
            <a:avLst/>
          </a:prstGeom>
          <a:solidFill>
            <a:srgbClr val="000000">
              <a:alpha val="0"/>
            </a:srgbClr>
          </a:solidFill>
        </p:spPr>
        <p:txBody>
          <a:bodyPr lIns="0" tIns="0" rIns="0" bIns="0" rtlCol="0" anchor="ctr"/>
          <a:lstStyle/>
          <a:p>
            <a:pPr indent="0" algn="l">
              <a:lnSpc>
                <a:spcPct val="150000"/>
              </a:lnSpc>
              <a:defRPr/>
            </a:pPr>
            <a:r>
              <a:rPr lang="en-US" sz="1984" b="0">
                <a:solidFill>
                  <a:srgbClr val="D9D9D9"/>
                </a:solidFill>
                <a:latin typeface="Poppins"/>
              </a:rPr>
              <a:t>Computing decisions shape user safety and privacy outcomes, requiring careful consideration of both technical design and human impact.</a:t>
            </a:r>
            <a:endParaRPr lang="en-US" sz="1100"/>
          </a:p>
        </p:txBody>
      </p:sp>
      <p:sp>
        <p:nvSpPr>
          <p:cNvPr id="13" name="AutoShape 13"/>
          <p:cNvSpPr/>
          <p:nvPr/>
        </p:nvSpPr>
        <p:spPr>
          <a:xfrm>
            <a:off x="10711318" y="3893557"/>
            <a:ext cx="4662574" cy="2981885"/>
          </a:xfrm>
          <a:prstGeom prst="rect">
            <a:avLst/>
          </a:prstGeom>
          <a:solidFill>
            <a:srgbClr val="33291B">
              <a:alpha val="71765"/>
            </a:srgbClr>
          </a:solidFill>
          <a:ln w="13547">
            <a:solidFill>
              <a:srgbClr val="9F6700">
                <a:alpha val="78824"/>
              </a:srgbClr>
            </a:solidFill>
          </a:ln>
        </p:spPr>
      </p:sp>
      <p:sp>
        <p:nvSpPr>
          <p:cNvPr id="14" name="TextBox 14"/>
          <p:cNvSpPr txBox="1"/>
          <p:nvPr/>
        </p:nvSpPr>
        <p:spPr>
          <a:xfrm>
            <a:off x="10979942" y="4162186"/>
            <a:ext cx="4125328" cy="378051"/>
          </a:xfrm>
          <a:prstGeom prst="rect">
            <a:avLst/>
          </a:prstGeom>
          <a:solidFill>
            <a:srgbClr val="000000">
              <a:alpha val="0"/>
            </a:srgbClr>
          </a:solidFill>
        </p:spPr>
        <p:txBody>
          <a:bodyPr lIns="0" tIns="0" rIns="0" bIns="0" rtlCol="0" anchor="ctr"/>
          <a:lstStyle/>
          <a:p>
            <a:pPr indent="0" algn="l">
              <a:lnSpc>
                <a:spcPct val="120000"/>
              </a:lnSpc>
              <a:defRPr/>
            </a:pPr>
            <a:r>
              <a:rPr lang="en-US" sz="2480" b="1">
                <a:solidFill>
                  <a:srgbClr val="FF9A0C"/>
                </a:solidFill>
                <a:latin typeface="Belanosima"/>
              </a:rPr>
              <a:t>Human Rights</a:t>
            </a:r>
            <a:endParaRPr lang="en-US" sz="1100"/>
          </a:p>
        </p:txBody>
      </p:sp>
      <p:sp>
        <p:nvSpPr>
          <p:cNvPr id="15" name="TextBox 15"/>
          <p:cNvSpPr txBox="1"/>
          <p:nvPr/>
        </p:nvSpPr>
        <p:spPr>
          <a:xfrm>
            <a:off x="10979942" y="4716557"/>
            <a:ext cx="4125328" cy="1890253"/>
          </a:xfrm>
          <a:prstGeom prst="rect">
            <a:avLst/>
          </a:prstGeom>
          <a:solidFill>
            <a:srgbClr val="000000">
              <a:alpha val="0"/>
            </a:srgbClr>
          </a:solidFill>
        </p:spPr>
        <p:txBody>
          <a:bodyPr lIns="0" tIns="0" rIns="0" bIns="0" rtlCol="0" anchor="ctr"/>
          <a:lstStyle/>
          <a:p>
            <a:pPr indent="0" algn="l">
              <a:lnSpc>
                <a:spcPct val="150000"/>
              </a:lnSpc>
              <a:defRPr/>
            </a:pPr>
            <a:r>
              <a:rPr lang="en-US" sz="1984" b="0">
                <a:solidFill>
                  <a:srgbClr val="D9D9D9"/>
                </a:solidFill>
                <a:latin typeface="Poppins"/>
              </a:rPr>
              <a:t>Protecting privacy protects human rights, enabling individuals to maintain autonomy and dignity in an increasingly digital world.</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a:ln w="13547">
            <a:solidFill>
              <a:srgbClr val="B46F00"/>
            </a:solidFill>
          </a:ln>
        </p:spPr>
      </p:sp>
      <p:pic>
        <p:nvPicPr>
          <p:cNvPr id="3" name="Picture 3"/>
          <p:cNvPicPr>
            <a:picLocks noChangeAspect="1"/>
          </p:cNvPicPr>
          <p:nvPr/>
        </p:nvPicPr>
        <p:blipFill>
          <a:blip r:embed="rId2"/>
          <a:srcRect t="74" b="74"/>
          <a:stretch>
            <a:fillRect/>
          </a:stretch>
        </p:blipFill>
        <p:spPr>
          <a:xfrm>
            <a:off x="0" y="0"/>
            <a:ext cx="16256000" cy="9144000"/>
          </a:xfrm>
          <a:prstGeom prst="rect">
            <a:avLst/>
          </a:prstGeom>
        </p:spPr>
      </p:pic>
      <p:sp>
        <p:nvSpPr>
          <p:cNvPr id="4" name="TextBox 4"/>
          <p:cNvSpPr txBox="1"/>
          <p:nvPr/>
        </p:nvSpPr>
        <p:spPr>
          <a:xfrm>
            <a:off x="882112" y="1217385"/>
            <a:ext cx="14491783" cy="604674"/>
          </a:xfrm>
          <a:prstGeom prst="rect">
            <a:avLst/>
          </a:prstGeom>
          <a:solidFill>
            <a:srgbClr val="000000">
              <a:alpha val="0"/>
            </a:srgbClr>
          </a:solidFill>
        </p:spPr>
        <p:txBody>
          <a:bodyPr lIns="0" tIns="0" rIns="0" bIns="0" rtlCol="0" anchor="ctr"/>
          <a:lstStyle/>
          <a:p>
            <a:pPr indent="0" algn="l">
              <a:lnSpc>
                <a:spcPct val="120000"/>
              </a:lnSpc>
              <a:defRPr/>
            </a:pPr>
            <a:r>
              <a:rPr lang="en-US" sz="3968" b="1">
                <a:solidFill>
                  <a:srgbClr val="FF9D09"/>
                </a:solidFill>
                <a:latin typeface="Belanosima"/>
              </a:rPr>
              <a:t>References</a:t>
            </a:r>
            <a:endParaRPr lang="en-US" sz="1100"/>
          </a:p>
        </p:txBody>
      </p:sp>
      <p:sp>
        <p:nvSpPr>
          <p:cNvPr id="5" name="AutoShape 5"/>
          <p:cNvSpPr/>
          <p:nvPr/>
        </p:nvSpPr>
        <p:spPr>
          <a:xfrm>
            <a:off x="882112" y="2105467"/>
            <a:ext cx="14491783" cy="5821154"/>
          </a:xfrm>
          <a:prstGeom prst="rect">
            <a:avLst/>
          </a:prstGeom>
          <a:solidFill>
            <a:srgbClr val="000000">
              <a:alpha val="0"/>
            </a:srgbClr>
          </a:solidFill>
        </p:spPr>
      </p:sp>
      <p:sp>
        <p:nvSpPr>
          <p:cNvPr id="6" name="AutoShape 6"/>
          <p:cNvSpPr/>
          <p:nvPr/>
        </p:nvSpPr>
        <p:spPr>
          <a:xfrm>
            <a:off x="882112" y="2105467"/>
            <a:ext cx="3386597" cy="3427083"/>
          </a:xfrm>
          <a:prstGeom prst="rect">
            <a:avLst/>
          </a:prstGeom>
          <a:solidFill>
            <a:srgbClr val="000000">
              <a:alpha val="0"/>
            </a:srgbClr>
          </a:solidFill>
        </p:spPr>
      </p:sp>
      <p:sp>
        <p:nvSpPr>
          <p:cNvPr id="7" name="TextBox 7"/>
          <p:cNvSpPr txBox="1"/>
          <p:nvPr/>
        </p:nvSpPr>
        <p:spPr>
          <a:xfrm>
            <a:off x="1260155" y="2105467"/>
            <a:ext cx="3008550" cy="1360515"/>
          </a:xfrm>
          <a:prstGeom prst="rect">
            <a:avLst/>
          </a:prstGeom>
          <a:solidFill>
            <a:srgbClr val="000000">
              <a:alpha val="0"/>
            </a:srgbClr>
          </a:solidFill>
        </p:spPr>
        <p:txBody>
          <a:bodyPr lIns="0" tIns="0" rIns="0" bIns="0" rtlCol="0" anchor="ctr"/>
          <a:lstStyle/>
          <a:p>
            <a:pPr indent="0" algn="l">
              <a:lnSpc>
                <a:spcPct val="120000"/>
              </a:lnSpc>
              <a:defRPr/>
            </a:pPr>
            <a:r>
              <a:rPr lang="en-US" sz="2976" b="1">
                <a:solidFill>
                  <a:srgbClr val="FF9D09"/>
                </a:solidFill>
                <a:latin typeface="Belanosima"/>
              </a:rPr>
              <a:t>The Markup — Meta Pixel Investigation</a:t>
            </a:r>
            <a:endParaRPr lang="en-US" sz="1100"/>
          </a:p>
        </p:txBody>
      </p:sp>
      <p:sp>
        <p:nvSpPr>
          <p:cNvPr id="8" name="TextBox 8"/>
          <p:cNvSpPr txBox="1"/>
          <p:nvPr/>
        </p:nvSpPr>
        <p:spPr>
          <a:xfrm>
            <a:off x="1260155" y="3642302"/>
            <a:ext cx="3008550" cy="1512202"/>
          </a:xfrm>
          <a:prstGeom prst="rect">
            <a:avLst/>
          </a:prstGeom>
          <a:solidFill>
            <a:srgbClr val="000000">
              <a:alpha val="0"/>
            </a:srgbClr>
          </a:solidFill>
        </p:spPr>
        <p:txBody>
          <a:bodyPr lIns="0" tIns="0" rIns="0" bIns="0" rtlCol="0" anchor="ctr"/>
          <a:lstStyle/>
          <a:p>
            <a:pPr indent="0" algn="l">
              <a:lnSpc>
                <a:spcPct val="150000"/>
              </a:lnSpc>
              <a:defRPr/>
            </a:pPr>
            <a:r>
              <a:rPr lang="en-US" sz="1984" b="0">
                <a:solidFill>
                  <a:srgbClr val="D9D9D9"/>
                </a:solidFill>
                <a:latin typeface="Poppins"/>
              </a:rPr>
              <a:t>Investigative reporting on Meta Pixel tracking and privacy concerns across websites.</a:t>
            </a:r>
            <a:endParaRPr lang="en-US" sz="1100"/>
          </a:p>
        </p:txBody>
      </p:sp>
      <p:sp>
        <p:nvSpPr>
          <p:cNvPr id="9" name="AutoShape 9"/>
          <p:cNvSpPr/>
          <p:nvPr/>
        </p:nvSpPr>
        <p:spPr>
          <a:xfrm>
            <a:off x="4583756" y="2105467"/>
            <a:ext cx="3386597" cy="3427083"/>
          </a:xfrm>
          <a:prstGeom prst="rect">
            <a:avLst/>
          </a:prstGeom>
          <a:solidFill>
            <a:srgbClr val="000000">
              <a:alpha val="0"/>
            </a:srgbClr>
          </a:solidFill>
        </p:spPr>
      </p:sp>
      <p:sp>
        <p:nvSpPr>
          <p:cNvPr id="10" name="TextBox 10"/>
          <p:cNvSpPr txBox="1"/>
          <p:nvPr/>
        </p:nvSpPr>
        <p:spPr>
          <a:xfrm>
            <a:off x="4961800" y="2105467"/>
            <a:ext cx="3008550" cy="1360515"/>
          </a:xfrm>
          <a:prstGeom prst="rect">
            <a:avLst/>
          </a:prstGeom>
          <a:solidFill>
            <a:srgbClr val="000000">
              <a:alpha val="0"/>
            </a:srgbClr>
          </a:solidFill>
        </p:spPr>
        <p:txBody>
          <a:bodyPr lIns="0" tIns="0" rIns="0" bIns="0" rtlCol="0" anchor="ctr"/>
          <a:lstStyle/>
          <a:p>
            <a:pPr indent="0" algn="l">
              <a:lnSpc>
                <a:spcPct val="120000"/>
              </a:lnSpc>
              <a:defRPr/>
            </a:pPr>
            <a:r>
              <a:rPr lang="en-US" sz="2976" b="1">
                <a:solidFill>
                  <a:srgbClr val="FF9D09"/>
                </a:solidFill>
                <a:latin typeface="Belanosima"/>
              </a:rPr>
              <a:t>Wired — Ring Surveillance Reports</a:t>
            </a:r>
            <a:endParaRPr lang="en-US" sz="1100"/>
          </a:p>
        </p:txBody>
      </p:sp>
      <p:sp>
        <p:nvSpPr>
          <p:cNvPr id="11" name="TextBox 11"/>
          <p:cNvSpPr txBox="1"/>
          <p:nvPr/>
        </p:nvSpPr>
        <p:spPr>
          <a:xfrm>
            <a:off x="4961800" y="3642302"/>
            <a:ext cx="3008550" cy="1890253"/>
          </a:xfrm>
          <a:prstGeom prst="rect">
            <a:avLst/>
          </a:prstGeom>
          <a:solidFill>
            <a:srgbClr val="000000">
              <a:alpha val="0"/>
            </a:srgbClr>
          </a:solidFill>
        </p:spPr>
        <p:txBody>
          <a:bodyPr lIns="0" tIns="0" rIns="0" bIns="0" rtlCol="0" anchor="ctr"/>
          <a:lstStyle/>
          <a:p>
            <a:pPr indent="0" algn="l">
              <a:lnSpc>
                <a:spcPct val="150000"/>
              </a:lnSpc>
              <a:defRPr/>
            </a:pPr>
            <a:r>
              <a:rPr lang="en-US" sz="1984" b="0">
                <a:solidFill>
                  <a:srgbClr val="D9D9D9"/>
                </a:solidFill>
                <a:latin typeface="Poppins"/>
              </a:rPr>
              <a:t>In-depth analysis of Ring doorbell surveillance practices and privacy implications.</a:t>
            </a:r>
            <a:endParaRPr lang="en-US" sz="1100"/>
          </a:p>
        </p:txBody>
      </p:sp>
      <p:sp>
        <p:nvSpPr>
          <p:cNvPr id="12" name="AutoShape 12"/>
          <p:cNvSpPr/>
          <p:nvPr/>
        </p:nvSpPr>
        <p:spPr>
          <a:xfrm>
            <a:off x="8285386" y="2105467"/>
            <a:ext cx="3386597" cy="3427083"/>
          </a:xfrm>
          <a:prstGeom prst="rect">
            <a:avLst/>
          </a:prstGeom>
          <a:solidFill>
            <a:srgbClr val="000000">
              <a:alpha val="0"/>
            </a:srgbClr>
          </a:solidFill>
        </p:spPr>
      </p:sp>
      <p:sp>
        <p:nvSpPr>
          <p:cNvPr id="13" name="TextBox 13"/>
          <p:cNvSpPr txBox="1"/>
          <p:nvPr/>
        </p:nvSpPr>
        <p:spPr>
          <a:xfrm>
            <a:off x="8663444" y="2105467"/>
            <a:ext cx="3008550" cy="907010"/>
          </a:xfrm>
          <a:prstGeom prst="rect">
            <a:avLst/>
          </a:prstGeom>
          <a:solidFill>
            <a:srgbClr val="000000">
              <a:alpha val="0"/>
            </a:srgbClr>
          </a:solidFill>
        </p:spPr>
        <p:txBody>
          <a:bodyPr lIns="0" tIns="0" rIns="0" bIns="0" rtlCol="0" anchor="ctr"/>
          <a:lstStyle/>
          <a:p>
            <a:pPr indent="0" algn="l">
              <a:lnSpc>
                <a:spcPct val="120000"/>
              </a:lnSpc>
              <a:defRPr/>
            </a:pPr>
            <a:r>
              <a:rPr lang="en-US" sz="2976" b="1">
                <a:solidFill>
                  <a:srgbClr val="FF9D09"/>
                </a:solidFill>
                <a:latin typeface="Belanosima"/>
              </a:rPr>
              <a:t>EFF Privacy Research</a:t>
            </a:r>
            <a:endParaRPr lang="en-US" sz="1100"/>
          </a:p>
        </p:txBody>
      </p:sp>
      <p:sp>
        <p:nvSpPr>
          <p:cNvPr id="14" name="TextBox 14"/>
          <p:cNvSpPr txBox="1"/>
          <p:nvPr/>
        </p:nvSpPr>
        <p:spPr>
          <a:xfrm>
            <a:off x="8663444" y="3188797"/>
            <a:ext cx="3008550" cy="1890253"/>
          </a:xfrm>
          <a:prstGeom prst="rect">
            <a:avLst/>
          </a:prstGeom>
          <a:solidFill>
            <a:srgbClr val="000000">
              <a:alpha val="0"/>
            </a:srgbClr>
          </a:solidFill>
        </p:spPr>
        <p:txBody>
          <a:bodyPr lIns="0" tIns="0" rIns="0" bIns="0" rtlCol="0" anchor="ctr"/>
          <a:lstStyle/>
          <a:p>
            <a:pPr indent="0" algn="l">
              <a:lnSpc>
                <a:spcPct val="150000"/>
              </a:lnSpc>
              <a:defRPr/>
            </a:pPr>
            <a:r>
              <a:rPr lang="en-US" sz="1984" b="0">
                <a:solidFill>
                  <a:srgbClr val="D9D9D9"/>
                </a:solidFill>
                <a:latin typeface="Poppins"/>
              </a:rPr>
              <a:t>Electronic Frontier Foundation research on digital privacy rights and consumer protections.</a:t>
            </a:r>
            <a:endParaRPr lang="en-US" sz="1100"/>
          </a:p>
        </p:txBody>
      </p:sp>
      <p:sp>
        <p:nvSpPr>
          <p:cNvPr id="15" name="AutoShape 15"/>
          <p:cNvSpPr/>
          <p:nvPr/>
        </p:nvSpPr>
        <p:spPr>
          <a:xfrm>
            <a:off x="11987030" y="2105467"/>
            <a:ext cx="3386861" cy="3427083"/>
          </a:xfrm>
          <a:prstGeom prst="rect">
            <a:avLst/>
          </a:prstGeom>
          <a:solidFill>
            <a:srgbClr val="000000">
              <a:alpha val="0"/>
            </a:srgbClr>
          </a:solidFill>
        </p:spPr>
      </p:sp>
      <p:sp>
        <p:nvSpPr>
          <p:cNvPr id="16" name="TextBox 16"/>
          <p:cNvSpPr txBox="1"/>
          <p:nvPr/>
        </p:nvSpPr>
        <p:spPr>
          <a:xfrm>
            <a:off x="12365074" y="2105467"/>
            <a:ext cx="3008815" cy="907010"/>
          </a:xfrm>
          <a:prstGeom prst="rect">
            <a:avLst/>
          </a:prstGeom>
          <a:solidFill>
            <a:srgbClr val="000000">
              <a:alpha val="0"/>
            </a:srgbClr>
          </a:solidFill>
        </p:spPr>
        <p:txBody>
          <a:bodyPr lIns="0" tIns="0" rIns="0" bIns="0" rtlCol="0" anchor="ctr"/>
          <a:lstStyle/>
          <a:p>
            <a:pPr indent="0" algn="l">
              <a:lnSpc>
                <a:spcPct val="120000"/>
              </a:lnSpc>
              <a:defRPr/>
            </a:pPr>
            <a:r>
              <a:rPr lang="en-US" sz="2976" b="1">
                <a:solidFill>
                  <a:srgbClr val="FF9D09"/>
                </a:solidFill>
                <a:latin typeface="Belanosima"/>
              </a:rPr>
              <a:t>GDPR Official Documentation</a:t>
            </a:r>
            <a:endParaRPr lang="en-US" sz="1100"/>
          </a:p>
        </p:txBody>
      </p:sp>
      <p:sp>
        <p:nvSpPr>
          <p:cNvPr id="17" name="TextBox 17"/>
          <p:cNvSpPr txBox="1"/>
          <p:nvPr/>
        </p:nvSpPr>
        <p:spPr>
          <a:xfrm>
            <a:off x="12365074" y="3188797"/>
            <a:ext cx="3008815" cy="1890253"/>
          </a:xfrm>
          <a:prstGeom prst="rect">
            <a:avLst/>
          </a:prstGeom>
          <a:solidFill>
            <a:srgbClr val="000000">
              <a:alpha val="0"/>
            </a:srgbClr>
          </a:solidFill>
        </p:spPr>
        <p:txBody>
          <a:bodyPr lIns="0" tIns="0" rIns="0" bIns="0" rtlCol="0" anchor="ctr"/>
          <a:lstStyle/>
          <a:p>
            <a:pPr indent="0" algn="l">
              <a:lnSpc>
                <a:spcPct val="150000"/>
              </a:lnSpc>
              <a:defRPr/>
            </a:pPr>
            <a:r>
              <a:rPr lang="en-US" sz="1984" b="0">
                <a:solidFill>
                  <a:srgbClr val="D9D9D9"/>
                </a:solidFill>
                <a:latin typeface="Poppins"/>
              </a:rPr>
              <a:t>General Data Protection Regulation framework governing data privacy in the European Union.</a:t>
            </a:r>
            <a:endParaRPr lang="en-US" sz="1100"/>
          </a:p>
        </p:txBody>
      </p:sp>
      <p:sp>
        <p:nvSpPr>
          <p:cNvPr id="18" name="AutoShape 18"/>
          <p:cNvSpPr/>
          <p:nvPr/>
        </p:nvSpPr>
        <p:spPr>
          <a:xfrm>
            <a:off x="882112" y="6162639"/>
            <a:ext cx="7088248" cy="1763971"/>
          </a:xfrm>
          <a:prstGeom prst="rect">
            <a:avLst/>
          </a:prstGeom>
          <a:solidFill>
            <a:srgbClr val="000000">
              <a:alpha val="0"/>
            </a:srgbClr>
          </a:solidFill>
        </p:spPr>
      </p:sp>
      <p:sp>
        <p:nvSpPr>
          <p:cNvPr id="19" name="TextBox 19"/>
          <p:cNvSpPr txBox="1"/>
          <p:nvPr/>
        </p:nvSpPr>
        <p:spPr>
          <a:xfrm>
            <a:off x="1260155" y="6162639"/>
            <a:ext cx="6710201" cy="453505"/>
          </a:xfrm>
          <a:prstGeom prst="rect">
            <a:avLst/>
          </a:prstGeom>
          <a:solidFill>
            <a:srgbClr val="000000">
              <a:alpha val="0"/>
            </a:srgbClr>
          </a:solidFill>
        </p:spPr>
        <p:txBody>
          <a:bodyPr lIns="0" tIns="0" rIns="0" bIns="0" rtlCol="0" anchor="ctr"/>
          <a:lstStyle/>
          <a:p>
            <a:pPr indent="0" algn="l">
              <a:lnSpc>
                <a:spcPct val="120000"/>
              </a:lnSpc>
              <a:defRPr/>
            </a:pPr>
            <a:r>
              <a:rPr lang="en-US" sz="2976" b="1">
                <a:solidFill>
                  <a:srgbClr val="FF9D09"/>
                </a:solidFill>
                <a:latin typeface="Belanosima"/>
              </a:rPr>
              <a:t>CCPA Privacy Act</a:t>
            </a:r>
            <a:endParaRPr lang="en-US" sz="1100"/>
          </a:p>
        </p:txBody>
      </p:sp>
      <p:sp>
        <p:nvSpPr>
          <p:cNvPr id="20" name="TextBox 20"/>
          <p:cNvSpPr txBox="1"/>
          <p:nvPr/>
        </p:nvSpPr>
        <p:spPr>
          <a:xfrm>
            <a:off x="1260155" y="6792464"/>
            <a:ext cx="6710201" cy="756101"/>
          </a:xfrm>
          <a:prstGeom prst="rect">
            <a:avLst/>
          </a:prstGeom>
          <a:solidFill>
            <a:srgbClr val="000000">
              <a:alpha val="0"/>
            </a:srgbClr>
          </a:solidFill>
        </p:spPr>
        <p:txBody>
          <a:bodyPr lIns="0" tIns="0" rIns="0" bIns="0" rtlCol="0" anchor="ctr"/>
          <a:lstStyle/>
          <a:p>
            <a:pPr indent="0" algn="l">
              <a:lnSpc>
                <a:spcPct val="150000"/>
              </a:lnSpc>
              <a:defRPr/>
            </a:pPr>
            <a:r>
              <a:rPr lang="en-US" sz="1984" b="0">
                <a:solidFill>
                  <a:srgbClr val="D9D9D9"/>
                </a:solidFill>
                <a:latin typeface="Poppins"/>
              </a:rPr>
              <a:t>California Consumer Privacy Act establishing privacy rights and data protection standards.</a:t>
            </a:r>
            <a:endParaRPr lang="en-US" sz="1100"/>
          </a:p>
        </p:txBody>
      </p:sp>
      <p:sp>
        <p:nvSpPr>
          <p:cNvPr id="21" name="AutoShape 21"/>
          <p:cNvSpPr/>
          <p:nvPr/>
        </p:nvSpPr>
        <p:spPr>
          <a:xfrm>
            <a:off x="8285386" y="6162639"/>
            <a:ext cx="7088497" cy="1763971"/>
          </a:xfrm>
          <a:prstGeom prst="rect">
            <a:avLst/>
          </a:prstGeom>
          <a:solidFill>
            <a:srgbClr val="000000">
              <a:alpha val="0"/>
            </a:srgbClr>
          </a:solidFill>
        </p:spPr>
      </p:sp>
      <p:sp>
        <p:nvSpPr>
          <p:cNvPr id="22" name="TextBox 22"/>
          <p:cNvSpPr txBox="1"/>
          <p:nvPr/>
        </p:nvSpPr>
        <p:spPr>
          <a:xfrm>
            <a:off x="8663444" y="6162639"/>
            <a:ext cx="6710450" cy="453505"/>
          </a:xfrm>
          <a:prstGeom prst="rect">
            <a:avLst/>
          </a:prstGeom>
          <a:solidFill>
            <a:srgbClr val="000000">
              <a:alpha val="0"/>
            </a:srgbClr>
          </a:solidFill>
        </p:spPr>
        <p:txBody>
          <a:bodyPr lIns="0" tIns="0" rIns="0" bIns="0" rtlCol="0" anchor="ctr"/>
          <a:lstStyle/>
          <a:p>
            <a:pPr indent="0" algn="l">
              <a:lnSpc>
                <a:spcPct val="120000"/>
              </a:lnSpc>
              <a:defRPr/>
            </a:pPr>
            <a:r>
              <a:rPr lang="en-US" sz="2976" b="1">
                <a:solidFill>
                  <a:srgbClr val="FF9D09"/>
                </a:solidFill>
                <a:latin typeface="Belanosima"/>
              </a:rPr>
              <a:t>NIST Privacy Framework</a:t>
            </a:r>
            <a:endParaRPr lang="en-US" sz="1100"/>
          </a:p>
        </p:txBody>
      </p:sp>
      <p:sp>
        <p:nvSpPr>
          <p:cNvPr id="23" name="TextBox 23"/>
          <p:cNvSpPr txBox="1"/>
          <p:nvPr/>
        </p:nvSpPr>
        <p:spPr>
          <a:xfrm>
            <a:off x="8663444" y="6792464"/>
            <a:ext cx="6710450" cy="1134152"/>
          </a:xfrm>
          <a:prstGeom prst="rect">
            <a:avLst/>
          </a:prstGeom>
          <a:solidFill>
            <a:srgbClr val="000000">
              <a:alpha val="0"/>
            </a:srgbClr>
          </a:solidFill>
        </p:spPr>
        <p:txBody>
          <a:bodyPr lIns="0" tIns="0" rIns="0" bIns="0" rtlCol="0" anchor="ctr"/>
          <a:lstStyle/>
          <a:p>
            <a:pPr indent="0" algn="l">
              <a:lnSpc>
                <a:spcPct val="150000"/>
              </a:lnSpc>
              <a:defRPr/>
            </a:pPr>
            <a:r>
              <a:rPr lang="en-US" sz="1984" b="0">
                <a:solidFill>
                  <a:srgbClr val="D9D9D9"/>
                </a:solidFill>
                <a:latin typeface="Poppins"/>
              </a:rPr>
              <a:t>National Institute of Standards and Technology guidelines for privacy risk management and protection.</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6256000" cy="9144000"/>
          </a:xfrm>
          <a:prstGeom prst="rect">
            <a:avLst/>
          </a:prstGeom>
          <a:solidFill>
            <a:srgbClr val="0D0A2C">
              <a:alpha val="74902"/>
            </a:srgbClr>
          </a:solidFill>
          <a:ln w="13547">
            <a:solidFill>
              <a:srgbClr val="B46F00"/>
            </a:solidFill>
          </a:ln>
        </p:spPr>
      </p:sp>
      <p:pic>
        <p:nvPicPr>
          <p:cNvPr id="3" name="Picture 3"/>
          <p:cNvPicPr>
            <a:picLocks noChangeAspect="1"/>
          </p:cNvPicPr>
          <p:nvPr/>
        </p:nvPicPr>
        <p:blipFill>
          <a:blip r:embed="rId3"/>
          <a:srcRect t="74" b="74"/>
          <a:stretch>
            <a:fillRect/>
          </a:stretch>
        </p:blipFill>
        <p:spPr>
          <a:xfrm>
            <a:off x="0" y="0"/>
            <a:ext cx="16256000" cy="9144000"/>
          </a:xfrm>
          <a:prstGeom prst="rect">
            <a:avLst/>
          </a:prstGeom>
        </p:spPr>
      </p:pic>
      <p:pic>
        <p:nvPicPr>
          <p:cNvPr id="4" name="Picture 4"/>
          <p:cNvPicPr>
            <a:picLocks noChangeAspect="1"/>
          </p:cNvPicPr>
          <p:nvPr/>
        </p:nvPicPr>
        <p:blipFill>
          <a:blip r:embed="rId4"/>
          <a:srcRect t="34213" b="34213"/>
          <a:stretch>
            <a:fillRect/>
          </a:stretch>
        </p:blipFill>
        <p:spPr>
          <a:xfrm>
            <a:off x="16591" y="16595"/>
            <a:ext cx="16222863" cy="9110816"/>
          </a:xfrm>
          <a:prstGeom prst="roundRect">
            <a:avLst>
              <a:gd name="adj" fmla="val 2766"/>
            </a:avLst>
          </a:prstGeom>
        </p:spPr>
      </p:pic>
      <p:sp>
        <p:nvSpPr>
          <p:cNvPr id="5" name="AutoShape 5"/>
          <p:cNvSpPr/>
          <p:nvPr/>
        </p:nvSpPr>
        <p:spPr>
          <a:xfrm>
            <a:off x="16591" y="16595"/>
            <a:ext cx="16222863" cy="9110816"/>
          </a:xfrm>
          <a:prstGeom prst="roundRect">
            <a:avLst>
              <a:gd name="adj" fmla="val 2766"/>
            </a:avLst>
          </a:prstGeom>
          <a:solidFill>
            <a:srgbClr val="0E0700">
              <a:alpha val="80000"/>
            </a:srgbClr>
          </a:solidFill>
        </p:spPr>
      </p:sp>
      <p:sp>
        <p:nvSpPr>
          <p:cNvPr id="6" name="TextBox 6"/>
          <p:cNvSpPr txBox="1"/>
          <p:nvPr/>
        </p:nvSpPr>
        <p:spPr>
          <a:xfrm>
            <a:off x="882112" y="3523027"/>
            <a:ext cx="14491783" cy="907270"/>
          </a:xfrm>
          <a:prstGeom prst="rect">
            <a:avLst/>
          </a:prstGeom>
          <a:solidFill>
            <a:srgbClr val="000000">
              <a:alpha val="0"/>
            </a:srgbClr>
          </a:solidFill>
        </p:spPr>
        <p:txBody>
          <a:bodyPr lIns="0" tIns="0" rIns="0" bIns="0" rtlCol="0" anchor="ctr"/>
          <a:lstStyle/>
          <a:p>
            <a:pPr indent="0" algn="ctr">
              <a:lnSpc>
                <a:spcPct val="160000"/>
              </a:lnSpc>
              <a:defRPr/>
            </a:pPr>
            <a:r>
              <a:rPr lang="en-US" sz="5953" b="1">
                <a:solidFill>
                  <a:srgbClr val="FF9D09"/>
                </a:solidFill>
                <a:latin typeface="Belanosima"/>
              </a:rPr>
              <a:t>Thank You</a:t>
            </a:r>
            <a:endParaRPr lang="en-US" sz="1100"/>
          </a:p>
        </p:txBody>
      </p:sp>
      <p:sp>
        <p:nvSpPr>
          <p:cNvPr id="7" name="TextBox 7"/>
          <p:cNvSpPr txBox="1"/>
          <p:nvPr/>
        </p:nvSpPr>
        <p:spPr>
          <a:xfrm>
            <a:off x="882112" y="4713704"/>
            <a:ext cx="14491783" cy="907270"/>
          </a:xfrm>
          <a:prstGeom prst="rect">
            <a:avLst/>
          </a:prstGeom>
          <a:solidFill>
            <a:srgbClr val="000000">
              <a:alpha val="0"/>
            </a:srgbClr>
          </a:solidFill>
        </p:spPr>
        <p:txBody>
          <a:bodyPr lIns="0" tIns="0" rIns="0" bIns="0" rtlCol="0" anchor="ctr"/>
          <a:lstStyle/>
          <a:p>
            <a:pPr indent="0" algn="ctr">
              <a:lnSpc>
                <a:spcPct val="160000"/>
              </a:lnSpc>
              <a:defRPr/>
            </a:pPr>
            <a:r>
              <a:rPr lang="en-US" sz="1944" b="1">
                <a:solidFill>
                  <a:srgbClr val="333333"/>
                </a:solidFill>
                <a:latin typeface="Belanosima"/>
              </a:rPr>
              <a:t>Questions?</a:t>
            </a:r>
            <a:endParaRPr lang="en-US" sz="11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TotalTime>
  <Words>2030</Words>
  <Application>Microsoft Office PowerPoint</Application>
  <PresentationFormat>Custom</PresentationFormat>
  <Paragraphs>178</Paragraphs>
  <Slides>15</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Belanosima</vt:lpstr>
      <vt:lpstr>Calibri</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Rising Son</dc:creator>
  <cp:lastModifiedBy>Rising Son</cp:lastModifiedBy>
  <cp:revision>2</cp:revision>
  <dcterms:created xsi:type="dcterms:W3CDTF">2006-08-16T00:00:00Z</dcterms:created>
  <dcterms:modified xsi:type="dcterms:W3CDTF">2026-05-03T23:24:38Z</dcterms:modified>
</cp:coreProperties>
</file>